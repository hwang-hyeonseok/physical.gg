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1.xml" ContentType="application/vnd.openxmlformats-officedocument.drawingml.chartshape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3" r:id="rId5"/>
    <p:sldId id="262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4" r:id="rId16"/>
    <p:sldId id="273" r:id="rId17"/>
    <p:sldId id="275" r:id="rId18"/>
    <p:sldId id="276" r:id="rId19"/>
    <p:sldId id="278" r:id="rId20"/>
    <p:sldId id="277" r:id="rId21"/>
    <p:sldId id="279" r:id="rId22"/>
    <p:sldId id="280" r:id="rId23"/>
    <p:sldId id="281" r:id="rId24"/>
    <p:sldId id="282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4F4"/>
    <a:srgbClr val="FFCC00"/>
    <a:srgbClr val="CC0000"/>
    <a:srgbClr val="FF7C80"/>
    <a:srgbClr val="003366"/>
    <a:srgbClr val="FFD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06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1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pPr>
            <a:r>
              <a:rPr lang="ko-KR" altLang="en-US" sz="1600" dirty="0"/>
              <a:t>세대별 암 발생 증가율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459658434927453"/>
          <c:y val="0.1480254426857974"/>
          <c:w val="0.88480314960629924"/>
          <c:h val="0.7776113571843407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암 발생 증가율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FF7C80"/>
              </a:solidFill>
              <a:ln>
                <a:solidFill>
                  <a:srgbClr val="FF7C8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9E5B-451E-8C6A-48F5F7592437}"/>
              </c:ext>
            </c:extLst>
          </c:dPt>
          <c:cat>
            <c:strRef>
              <c:f>Sheet1!$A$3:$A$9</c:f>
              <c:strCache>
                <c:ptCount val="7"/>
                <c:pt idx="0">
                  <c:v>10대</c:v>
                </c:pt>
                <c:pt idx="1">
                  <c:v>20대</c:v>
                </c:pt>
                <c:pt idx="2">
                  <c:v>30대</c:v>
                </c:pt>
                <c:pt idx="3">
                  <c:v>40대</c:v>
                </c:pt>
                <c:pt idx="4">
                  <c:v>50대</c:v>
                </c:pt>
                <c:pt idx="5">
                  <c:v>60대</c:v>
                </c:pt>
                <c:pt idx="6">
                  <c:v>70대이상</c:v>
                </c:pt>
              </c:strCache>
            </c:strRef>
          </c:cat>
          <c:val>
            <c:numRef>
              <c:f>Sheet1!$B$3:$B$9</c:f>
              <c:numCache>
                <c:formatCode>0.00%</c:formatCode>
                <c:ptCount val="7"/>
                <c:pt idx="0">
                  <c:v>0.17599999999999999</c:v>
                </c:pt>
                <c:pt idx="1">
                  <c:v>0.44500000000000001</c:v>
                </c:pt>
                <c:pt idx="2">
                  <c:v>0.129</c:v>
                </c:pt>
                <c:pt idx="3">
                  <c:v>0.13700000000000001</c:v>
                </c:pt>
                <c:pt idx="4">
                  <c:v>0.13600000000000001</c:v>
                </c:pt>
                <c:pt idx="5">
                  <c:v>0.28199999999999997</c:v>
                </c:pt>
                <c:pt idx="6">
                  <c:v>0.26100000000000001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5B-451E-8C6A-48F5F75924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52613856"/>
        <c:axId val="552607200"/>
      </c:barChart>
      <c:catAx>
        <c:axId val="552613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pPr>
            <a:endParaRPr lang="ko-KR"/>
          </a:p>
        </c:txPr>
        <c:crossAx val="552607200"/>
        <c:crosses val="autoZero"/>
        <c:auto val="1"/>
        <c:lblAlgn val="ctr"/>
        <c:lblOffset val="100"/>
        <c:noMultiLvlLbl val="0"/>
      </c:catAx>
      <c:valAx>
        <c:axId val="5526072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pPr>
            <a:endParaRPr lang="ko-KR"/>
          </a:p>
        </c:txPr>
        <c:crossAx val="5526138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F4F4F4"/>
    </a:solidFill>
    <a:ln>
      <a:noFill/>
    </a:ln>
    <a:effectLst/>
  </c:spPr>
  <c:txPr>
    <a:bodyPr/>
    <a:lstStyle/>
    <a:p>
      <a:pPr>
        <a:defRPr>
          <a:latin typeface="KoPubWorld돋움체 Bold" panose="00000800000000000000" pitchFamily="2" charset="-127"/>
          <a:ea typeface="KoPubWorld돋움체 Bold" panose="00000800000000000000" pitchFamily="2" charset="-127"/>
          <a:cs typeface="KoPubWorld돋움체 Bold" panose="00000800000000000000" pitchFamily="2" charset="-127"/>
        </a:defRPr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pPr>
            <a:r>
              <a:rPr lang="ko-KR" altLang="en-US" dirty="0"/>
              <a:t>최근 </a:t>
            </a:r>
            <a:r>
              <a:rPr lang="en-US" altLang="ko-KR" dirty="0"/>
              <a:t>10</a:t>
            </a:r>
            <a:r>
              <a:rPr lang="ko-KR" altLang="en-US" dirty="0"/>
              <a:t>년간 만성질환 환자 증가율 비교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20~30대</c:v>
                </c:pt>
              </c:strCache>
            </c:strRef>
          </c:tx>
          <c:spPr>
            <a:solidFill>
              <a:srgbClr val="FF7C80"/>
            </a:solidFill>
            <a:ln>
              <a:solidFill>
                <a:srgbClr val="FF7C80"/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당뇨병</c:v>
                </c:pt>
                <c:pt idx="1">
                  <c:v>고혈압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0.74</c:v>
                </c:pt>
                <c:pt idx="1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A7-491E-82A7-D6198AB3994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50~60대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당뇨병</c:v>
                </c:pt>
                <c:pt idx="1">
                  <c:v>고혈압</c:v>
                </c:pt>
              </c:strCache>
            </c:strRef>
          </c:cat>
          <c:val>
            <c:numRef>
              <c:f>Sheet1!$C$2:$C$3</c:f>
              <c:numCache>
                <c:formatCode>0%</c:formatCode>
                <c:ptCount val="2"/>
                <c:pt idx="0">
                  <c:v>0.69</c:v>
                </c:pt>
                <c:pt idx="1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BA7-491E-82A7-D6198AB399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61199712"/>
        <c:axId val="561200544"/>
      </c:barChart>
      <c:catAx>
        <c:axId val="561199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pPr>
            <a:endParaRPr lang="ko-KR"/>
          </a:p>
        </c:txPr>
        <c:crossAx val="561200544"/>
        <c:crosses val="autoZero"/>
        <c:auto val="1"/>
        <c:lblAlgn val="ctr"/>
        <c:lblOffset val="100"/>
        <c:noMultiLvlLbl val="0"/>
      </c:catAx>
      <c:valAx>
        <c:axId val="5612005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pPr>
            <a:endParaRPr lang="ko-KR"/>
          </a:p>
        </c:txPr>
        <c:crossAx val="5611997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F4F4F4"/>
    </a:solidFill>
    <a:ln>
      <a:noFill/>
    </a:ln>
    <a:effectLst/>
  </c:spPr>
  <c:txPr>
    <a:bodyPr/>
    <a:lstStyle/>
    <a:p>
      <a:pPr>
        <a:defRPr b="1">
          <a:latin typeface="KoPubWorld돋움체 Bold" panose="00000800000000000000" pitchFamily="2" charset="-127"/>
          <a:ea typeface="KoPubWorld돋움체 Bold" panose="00000800000000000000" pitchFamily="2" charset="-127"/>
          <a:cs typeface="KoPubWorld돋움체 Bold" panose="00000800000000000000" pitchFamily="2" charset="-127"/>
        </a:defRPr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pPr>
            <a:r>
              <a:rPr lang="ko-KR" altLang="en-US" dirty="0"/>
              <a:t>성인 운동 부족 인구 비율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운동 부족 인구</c:v>
                </c:pt>
              </c:strCache>
            </c:strRef>
          </c:tx>
          <c:spPr>
            <a:solidFill>
              <a:srgbClr val="FF7C80"/>
            </a:solidFill>
            <a:ln>
              <a:solidFill>
                <a:srgbClr val="FF7C80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5BA7-491E-82A7-D6198AB3994F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BA7-491E-82A7-D6198AB3994F}"/>
              </c:ext>
            </c:extLst>
          </c:dPt>
          <c:cat>
            <c:strRef>
              <c:f>Sheet1!$A$2:$A$4</c:f>
              <c:strCache>
                <c:ptCount val="3"/>
                <c:pt idx="0">
                  <c:v>한국 남성</c:v>
                </c:pt>
                <c:pt idx="1">
                  <c:v>세계 평균</c:v>
                </c:pt>
                <c:pt idx="2">
                  <c:v>한국 여성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0.56000000000000005</c:v>
                </c:pt>
                <c:pt idx="1">
                  <c:v>0.313</c:v>
                </c:pt>
                <c:pt idx="2" formatCode="0.00%">
                  <c:v>0.60299999999999998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A7-491E-82A7-D6198AB399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61199712"/>
        <c:axId val="561200544"/>
      </c:barChart>
      <c:catAx>
        <c:axId val="561199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pPr>
            <a:endParaRPr lang="ko-KR"/>
          </a:p>
        </c:txPr>
        <c:crossAx val="561200544"/>
        <c:crosses val="autoZero"/>
        <c:auto val="1"/>
        <c:lblAlgn val="ctr"/>
        <c:lblOffset val="100"/>
        <c:noMultiLvlLbl val="0"/>
      </c:catAx>
      <c:valAx>
        <c:axId val="561200544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561199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F4F4F4"/>
    </a:solidFill>
    <a:ln>
      <a:noFill/>
    </a:ln>
    <a:effectLst/>
  </c:spPr>
  <c:txPr>
    <a:bodyPr/>
    <a:lstStyle/>
    <a:p>
      <a:pPr>
        <a:defRPr b="1">
          <a:latin typeface="KoPubWorld돋움체 Bold" panose="00000800000000000000" pitchFamily="2" charset="-127"/>
          <a:ea typeface="KoPubWorld돋움체 Bold" panose="00000800000000000000" pitchFamily="2" charset="-127"/>
          <a:cs typeface="KoPubWorld돋움체 Bold" panose="00000800000000000000" pitchFamily="2" charset="-127"/>
        </a:defRPr>
      </a:pPr>
      <a:endParaRPr lang="ko-KR"/>
    </a:p>
  </c:txPr>
  <c:externalData r:id="rId3">
    <c:autoUpdate val="0"/>
  </c:externalData>
  <c:userShapes r:id="rId4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defRPr>
          </a:pPr>
          <a:endParaRPr lang="ko-KR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평소 운동을 하는가?(20~39세)</c:v>
                </c:pt>
              </c:strCache>
            </c:strRef>
          </c:tx>
          <c:dPt>
            <c:idx val="0"/>
            <c:bubble3D val="0"/>
            <c:spPr>
              <a:solidFill>
                <a:srgbClr val="FFCC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75C-4B3E-A510-BB1C9A4DFB78}"/>
              </c:ext>
            </c:extLst>
          </c:dPt>
          <c:dPt>
            <c:idx val="1"/>
            <c:bubble3D val="0"/>
            <c:spPr>
              <a:solidFill>
                <a:schemeClr val="bg1">
                  <a:lumMod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E75C-4B3E-A510-BB1C9A4DFB78}"/>
              </c:ext>
            </c:extLst>
          </c:dPt>
          <c:cat>
            <c:strRef>
              <c:f>Sheet1!$A$2:$A$3</c:f>
              <c:strCache>
                <c:ptCount val="2"/>
                <c:pt idx="0">
                  <c:v>긍정</c:v>
                </c:pt>
                <c:pt idx="1">
                  <c:v>부정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4.8</c:v>
                </c:pt>
                <c:pt idx="1">
                  <c:v>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5C-4B3E-A510-BB1C9A4DFB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  <a:latin typeface="KoPubWorld돋움체 Bold" panose="00000800000000000000" pitchFamily="2" charset="-127"/>
          <a:ea typeface="KoPubWorld돋움체 Bold" panose="00000800000000000000" pitchFamily="2" charset="-127"/>
          <a:cs typeface="KoPubWorld돋움체 Bold" panose="00000800000000000000" pitchFamily="2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2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3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0.40271</cdr:x>
      <cdr:y>0.48554</cdr:y>
    </cdr:from>
    <cdr:to>
      <cdr:x>0.60254</cdr:x>
      <cdr:y>0.56144</cdr:y>
    </cdr:to>
    <cdr:sp macro="" textlink="">
      <cdr:nvSpPr>
        <cdr:cNvPr id="2" name="TextBox 33">
          <a:extLst xmlns:a="http://schemas.openxmlformats.org/drawingml/2006/main">
            <a:ext uri="{FF2B5EF4-FFF2-40B4-BE49-F238E27FC236}">
              <a16:creationId xmlns:a16="http://schemas.microsoft.com/office/drawing/2014/main" id="{87C6953D-BEA6-422E-A33F-B1600DED0EDA}"/>
            </a:ext>
          </a:extLst>
        </cdr:cNvPr>
        <cdr:cNvSpPr txBox="1"/>
      </cdr:nvSpPr>
      <cdr:spPr>
        <a:xfrm xmlns:a="http://schemas.openxmlformats.org/drawingml/2006/main">
          <a:off x="1911688" y="2362602"/>
          <a:ext cx="948652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>
          <a:spAutoFit/>
        </a:bodyPr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altLang="ko-KR" sz="1800" b="1" dirty="0">
              <a:solidFill>
                <a:schemeClr val="bg2">
                  <a:lumMod val="25000"/>
                </a:schemeClr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rPr>
            <a:t>31.3%</a:t>
          </a:r>
          <a:endParaRPr lang="ko-KR" altLang="en-US" b="1" dirty="0">
            <a:solidFill>
              <a:schemeClr val="bg2">
                <a:lumMod val="25000"/>
              </a:schemeClr>
            </a:solidFill>
          </a:endParaRP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56F55B-4A5B-48DE-BC5C-9B3441A0EA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13BE588-3AA8-49C5-9761-971C7B9AD8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EDD140-BD89-4714-8E2A-C74628A80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06CE-8FF8-471E-8FCD-102B9408F416}" type="datetimeFigureOut">
              <a:rPr lang="ko-KR" altLang="en-US" smtClean="0"/>
              <a:t>2024-12-08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C3B804-DEB2-4CE1-9673-E12A2C3CC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977C53-91BC-49C5-87B3-0B0FAB07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7A159-6211-42B8-8975-D44312772A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466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287289-D9A2-40EB-9FEC-71F14CD0E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96B253-A631-4ED6-8084-B14B56FA6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A2DB3A-3D06-4D3D-8063-CA3C397DC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06CE-8FF8-471E-8FCD-102B9408F416}" type="datetimeFigureOut">
              <a:rPr lang="ko-KR" altLang="en-US" smtClean="0"/>
              <a:t>2024-12-08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0A70DB-0F8C-4CB5-9101-92ECAFDE3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E4711B-6F10-4897-A5BF-91A23243A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7A159-6211-42B8-8975-D44312772A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0357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5C82EE-562B-4BE4-8C3F-91D9809E4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C0172B-D291-4CB9-B592-6B3B9C367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468147-300E-45E1-B619-188517C91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06CE-8FF8-471E-8FCD-102B9408F416}" type="datetimeFigureOut">
              <a:rPr lang="ko-KR" altLang="en-US" smtClean="0"/>
              <a:t>2024-12-08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DBA7BF-2C8C-410B-B613-B251FCEB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BDC423-331B-4375-9011-8BEC1A02E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7A159-6211-42B8-8975-D44312772A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56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A02DC1-6953-44D2-B232-7D8FB30AE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E8A840-7083-4F40-A69D-6DEF49C9BE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6694EC-1A60-4137-8EFF-C7EAA1372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596802-5C6E-4402-BEEB-19C5D7777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06CE-8FF8-471E-8FCD-102B9408F416}" type="datetimeFigureOut">
              <a:rPr lang="ko-KR" altLang="en-US" smtClean="0"/>
              <a:t>2024-12-08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4D7594-4B97-475E-850E-F34BA962F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2C0670-D905-4187-A857-8B1E51D49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7A159-6211-42B8-8975-D44312772A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1065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75F60C-66C5-43DB-B79B-E85897D83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604F75-4B11-4399-B12B-44E0E116F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CACD08B-0B75-46B8-9933-4B446DE36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A693BA5-1557-4788-9DC1-9315F7EB96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ACB6411-7B49-4A2E-AD4F-D4D918ADB9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3613DDA-4E14-4707-B642-28056EE41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06CE-8FF8-471E-8FCD-102B9408F416}" type="datetimeFigureOut">
              <a:rPr lang="ko-KR" altLang="en-US" smtClean="0"/>
              <a:t>2024-12-08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3933997-54D2-4659-A639-58DDCC9A4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3E5D0BD-CFCE-4D25-819D-920D43201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7A159-6211-42B8-8975-D44312772A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7729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78A6E1-0D59-4B5A-B371-0E24A342E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B828023-7E71-40F7-8372-AA9D44E55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06CE-8FF8-471E-8FCD-102B9408F416}" type="datetimeFigureOut">
              <a:rPr lang="ko-KR" altLang="en-US" smtClean="0"/>
              <a:t>2024-12-08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4BB3BA6-6218-4557-889C-3F48597D9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A9B24E-2BB2-4EC9-A294-562E6D54F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7A159-6211-42B8-8975-D44312772A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4300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33AF942-05E2-419F-843F-4BF3682A7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06CE-8FF8-471E-8FCD-102B9408F416}" type="datetimeFigureOut">
              <a:rPr lang="ko-KR" altLang="en-US" smtClean="0"/>
              <a:t>2024-12-08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494A545-AF27-49FB-8184-172F3BA3B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C8121B-0A28-4EE0-AF21-4D84E726A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7A159-6211-42B8-8975-D44312772A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3246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9BEF5B-CD08-436E-91C1-04F708AFA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8D9D50-0DD3-4C05-B846-7F839F5EA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1BDA62-479F-4464-A725-F19A70C1B6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7ECC69-E075-41D4-AA10-2053466AC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06CE-8FF8-471E-8FCD-102B9408F416}" type="datetimeFigureOut">
              <a:rPr lang="ko-KR" altLang="en-US" smtClean="0"/>
              <a:t>2024-12-08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008750-966A-48B6-880D-BE71CAD86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43B0FE-1BF4-4C00-8931-B5AC90471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7A159-6211-42B8-8975-D44312772A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3795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630304-0E97-4669-B4C1-628E31EEE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A67D009-453E-40B7-AA1A-A1C17819BE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C19B2B-0159-4DD6-87F8-F3C0376A30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9BFC30-729C-4584-8FC3-AC7ADB3EE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06CE-8FF8-471E-8FCD-102B9408F416}" type="datetimeFigureOut">
              <a:rPr lang="ko-KR" altLang="en-US" smtClean="0"/>
              <a:t>2024-12-08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C1F6DE-A3ED-4226-A97D-20F28BF7D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170C3D-DBE1-4C92-85B5-78FCC1B01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7A159-6211-42B8-8975-D44312772A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3057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AB7DBB-BF7F-4B6B-AA2E-D63852FE9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265C28-4563-44B1-B69A-B6B0901DF2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79D557-E441-4E92-BF2D-2C6C4068C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06CE-8FF8-471E-8FCD-102B9408F416}" type="datetimeFigureOut">
              <a:rPr lang="ko-KR" altLang="en-US" smtClean="0"/>
              <a:t>2024-12-08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5DC1B7-10F4-4434-B2F8-6699A7004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0F3BE4-EDC6-477A-AED1-0DBE2F658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7A159-6211-42B8-8975-D44312772A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710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173EADD-4C08-4174-97E2-EFD9554448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A70033E-0265-4292-9306-974F2BE2D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DE7159-AA66-4870-9E89-4637EAF9A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06CE-8FF8-471E-8FCD-102B9408F416}" type="datetimeFigureOut">
              <a:rPr lang="ko-KR" altLang="en-US" smtClean="0"/>
              <a:t>2024-12-08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4C0696-D90F-429A-AEF5-A55FFD725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7B3254-8C9E-40A8-B88B-06183F449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7A159-6211-42B8-8975-D44312772A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4584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BE27B2A-C3A5-408D-B826-38FF2C3AB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16A2D3-96CB-48FE-B9D1-F6D0A5ACA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9DB277-335C-43A0-AE32-6A7897CC7E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606CE-8FF8-471E-8FCD-102B9408F416}" type="datetimeFigureOut">
              <a:rPr lang="ko-KR" altLang="en-US" smtClean="0"/>
              <a:t>2024-12-08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2F4D9E-6C4E-4A69-BA1E-78A9D4E977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A31665-5ECA-49AB-BA76-FC2A8CB480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87A159-6211-42B8-8975-D44312772A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60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hart" Target="../charts/chart1.xml"/><Relationship Id="rId7" Type="http://schemas.openxmlformats.org/officeDocument/2006/relationships/image" Target="../media/image1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chart" Target="../charts/chart2.xml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달리기 운동 중인 남녀. 게티이미지뱅크 제공">
            <a:extLst>
              <a:ext uri="{FF2B5EF4-FFF2-40B4-BE49-F238E27FC236}">
                <a16:creationId xmlns:a16="http://schemas.microsoft.com/office/drawing/2014/main" id="{CC41D57C-F058-4EBF-9B8D-FA3C6C7801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22"/>
          <a:stretch/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40D41EE-0CE1-4F8F-B46F-A2E404FC2A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FF29359-5470-45FF-A4FD-6CB0B386B3E1}"/>
              </a:ext>
            </a:extLst>
          </p:cNvPr>
          <p:cNvSpPr/>
          <p:nvPr/>
        </p:nvSpPr>
        <p:spPr>
          <a:xfrm>
            <a:off x="5981700" y="952453"/>
            <a:ext cx="5435600" cy="4953093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청년을 위한</a:t>
            </a:r>
            <a:endParaRPr lang="en-US" altLang="ko-KR" sz="5000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5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신체 랭킹 시스템</a:t>
            </a:r>
            <a:endParaRPr lang="en-US" altLang="ko-KR" sz="5000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endParaRPr lang="en-US" altLang="ko-KR" sz="5000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en-US" altLang="ko-KR" sz="50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Physical.GG</a:t>
            </a:r>
            <a:endParaRPr lang="ko-KR" altLang="en-US" sz="5000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3276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oman exercise workout in gym fitness breaking relax holding apple fruit after training sport with dumbbell and protein shake bottle healthy lifestyle bodybuilding, Athlete builder muscles lifestyle.">
            <a:extLst>
              <a:ext uri="{FF2B5EF4-FFF2-40B4-BE49-F238E27FC236}">
                <a16:creationId xmlns:a16="http://schemas.microsoft.com/office/drawing/2014/main" id="{CABD94F2-DF72-468D-94D7-A4B67B4160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43" b="578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8DDCB2D-BC76-4CD1-9C03-A70821646CBD}"/>
              </a:ext>
            </a:extLst>
          </p:cNvPr>
          <p:cNvSpPr/>
          <p:nvPr/>
        </p:nvSpPr>
        <p:spPr>
          <a:xfrm>
            <a:off x="105508" y="96715"/>
            <a:ext cx="11966329" cy="6673361"/>
          </a:xfrm>
          <a:prstGeom prst="rect">
            <a:avLst/>
          </a:prstGeom>
          <a:noFill/>
          <a:ln w="12700">
            <a:solidFill>
              <a:srgbClr val="F4F4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4043EE-4C4C-47C6-92AA-B9786DFB6CD2}"/>
              </a:ext>
            </a:extLst>
          </p:cNvPr>
          <p:cNvSpPr>
            <a:spLocks noChangeAspect="1"/>
          </p:cNvSpPr>
          <p:nvPr/>
        </p:nvSpPr>
        <p:spPr>
          <a:xfrm>
            <a:off x="103837" y="63000"/>
            <a:ext cx="11968000" cy="67320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AAA434-8536-4D7C-857C-14AAFF31EE54}"/>
              </a:ext>
            </a:extLst>
          </p:cNvPr>
          <p:cNvSpPr/>
          <p:nvPr/>
        </p:nvSpPr>
        <p:spPr>
          <a:xfrm>
            <a:off x="368300" y="253953"/>
            <a:ext cx="11430000" cy="631194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FC7BBE-ABF4-4E81-8C34-168C25CBB1C6}"/>
              </a:ext>
            </a:extLst>
          </p:cNvPr>
          <p:cNvSpPr txBox="1"/>
          <p:nvPr/>
        </p:nvSpPr>
        <p:spPr>
          <a:xfrm>
            <a:off x="368300" y="444500"/>
            <a:ext cx="114046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“</a:t>
            </a:r>
            <a:r>
              <a:rPr lang="en-US" altLang="ko-KR" sz="3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Phsical.GG</a:t>
            </a:r>
            <a:r>
              <a:rPr lang="ko-KR" altLang="en-US" sz="3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는</a:t>
            </a:r>
            <a:r>
              <a:rPr lang="en-US" altLang="ko-KR" sz="3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3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청년층의 의욕을 위한 솔루션입니다</a:t>
            </a:r>
            <a:r>
              <a:rPr lang="en-US" altLang="ko-KR" sz="3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  <a:r>
              <a:rPr lang="en-US" altLang="ko-KR" sz="6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”</a:t>
            </a:r>
          </a:p>
          <a:p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E49491-2BE8-4676-BFB6-28F7C3B53B65}"/>
              </a:ext>
            </a:extLst>
          </p:cNvPr>
          <p:cNvSpPr txBox="1"/>
          <p:nvPr/>
        </p:nvSpPr>
        <p:spPr>
          <a:xfrm>
            <a:off x="882163" y="1733987"/>
            <a:ext cx="46931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‘</a:t>
            </a:r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나의 피지컬 </a:t>
            </a:r>
            <a:r>
              <a:rPr lang="ko-KR" altLang="en-US" sz="2000" dirty="0" err="1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티어</a:t>
            </a:r>
            <a:r>
              <a:rPr lang="en-US" altLang="ko-KR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’</a:t>
            </a:r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확인</a:t>
            </a:r>
            <a:endParaRPr lang="ko-KR" altLang="en-US" sz="20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D1C01B-7A1D-4937-B6DD-EB9FA724D45B}"/>
              </a:ext>
            </a:extLst>
          </p:cNvPr>
          <p:cNvSpPr txBox="1"/>
          <p:nvPr/>
        </p:nvSpPr>
        <p:spPr>
          <a:xfrm>
            <a:off x="6616702" y="1733987"/>
            <a:ext cx="46931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‘</a:t>
            </a:r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피지컬 타입</a:t>
            </a:r>
            <a:r>
              <a:rPr lang="en-US" altLang="ko-KR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’</a:t>
            </a:r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/ ‘</a:t>
            </a:r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내 몸 공략법</a:t>
            </a:r>
            <a:r>
              <a:rPr lang="en-US" altLang="ko-KR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’</a:t>
            </a:r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endParaRPr lang="ko-KR" altLang="en-US" sz="20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1209045-08F9-496F-B399-D42245E585A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1" b="1577"/>
          <a:stretch/>
        </p:blipFill>
        <p:spPr>
          <a:xfrm>
            <a:off x="2372241" y="2411810"/>
            <a:ext cx="1712977" cy="363656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028" name="Picture 4" descr="스마트폰 화면 모형 모바일 UI 응용 프로그램 템플릿 빈 디스플레이 격리 템플릿이 있는 휴대폰 프레임">
            <a:extLst>
              <a:ext uri="{FF2B5EF4-FFF2-40B4-BE49-F238E27FC236}">
                <a16:creationId xmlns:a16="http://schemas.microsoft.com/office/drawing/2014/main" id="{269A9629-A9DD-4C6E-AD33-8840610BA5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263" t="14083" r="21636" b="11542"/>
          <a:stretch/>
        </p:blipFill>
        <p:spPr bwMode="auto">
          <a:xfrm>
            <a:off x="2271910" y="2321398"/>
            <a:ext cx="1913641" cy="387768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3B6C7329-33BF-45C1-8EB3-307C87510B7E}"/>
              </a:ext>
            </a:extLst>
          </p:cNvPr>
          <p:cNvSpPr/>
          <p:nvPr/>
        </p:nvSpPr>
        <p:spPr>
          <a:xfrm>
            <a:off x="1090123" y="1524000"/>
            <a:ext cx="4315312" cy="4810125"/>
          </a:xfrm>
          <a:prstGeom prst="rect">
            <a:avLst/>
          </a:prstGeom>
          <a:noFill/>
          <a:ln w="28575">
            <a:solidFill>
              <a:srgbClr val="F4F4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A308271-5E9B-4B2C-9196-F858A11DD33C}"/>
              </a:ext>
            </a:extLst>
          </p:cNvPr>
          <p:cNvSpPr/>
          <p:nvPr/>
        </p:nvSpPr>
        <p:spPr>
          <a:xfrm>
            <a:off x="6777722" y="1524000"/>
            <a:ext cx="4315312" cy="4810125"/>
          </a:xfrm>
          <a:prstGeom prst="rect">
            <a:avLst/>
          </a:prstGeom>
          <a:noFill/>
          <a:ln w="28575">
            <a:solidFill>
              <a:srgbClr val="F4F4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8BE72ED-511B-4CAB-AD8D-EB898955B3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4754" y="2227722"/>
            <a:ext cx="2626149" cy="188713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058474E-2A4E-48D6-9573-BD60200258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6912" y="4177854"/>
            <a:ext cx="3503325" cy="205897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F72B400-577C-4F15-83D2-3A2C25C196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1783" y="2371692"/>
            <a:ext cx="1400370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490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 woman is crying in front of a crowd of people">
            <a:extLst>
              <a:ext uri="{FF2B5EF4-FFF2-40B4-BE49-F238E27FC236}">
                <a16:creationId xmlns:a16="http://schemas.microsoft.com/office/drawing/2014/main" id="{A1F0FB2C-7AC6-4C2A-85C6-8306C33E4D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4" b="1282"/>
          <a:stretch/>
        </p:blipFill>
        <p:spPr bwMode="auto">
          <a:xfrm>
            <a:off x="-1" y="-2"/>
            <a:ext cx="12192001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8DDCB2D-BC76-4CD1-9C03-A70821646CBD}"/>
              </a:ext>
            </a:extLst>
          </p:cNvPr>
          <p:cNvSpPr/>
          <p:nvPr/>
        </p:nvSpPr>
        <p:spPr>
          <a:xfrm>
            <a:off x="105508" y="96715"/>
            <a:ext cx="11966329" cy="6673361"/>
          </a:xfrm>
          <a:prstGeom prst="rect">
            <a:avLst/>
          </a:prstGeom>
          <a:noFill/>
          <a:ln w="12700">
            <a:solidFill>
              <a:srgbClr val="F4F4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4043EE-4C4C-47C6-92AA-B9786DFB6CD2}"/>
              </a:ext>
            </a:extLst>
          </p:cNvPr>
          <p:cNvSpPr>
            <a:spLocks noChangeAspect="1"/>
          </p:cNvSpPr>
          <p:nvPr/>
        </p:nvSpPr>
        <p:spPr>
          <a:xfrm>
            <a:off x="103837" y="63000"/>
            <a:ext cx="11968000" cy="67320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AAA434-8536-4D7C-857C-14AAFF31EE54}"/>
              </a:ext>
            </a:extLst>
          </p:cNvPr>
          <p:cNvSpPr/>
          <p:nvPr/>
        </p:nvSpPr>
        <p:spPr>
          <a:xfrm>
            <a:off x="368300" y="253953"/>
            <a:ext cx="11430000" cy="631194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FC7BBE-ABF4-4E81-8C34-168C25CBB1C6}"/>
              </a:ext>
            </a:extLst>
          </p:cNvPr>
          <p:cNvSpPr txBox="1"/>
          <p:nvPr/>
        </p:nvSpPr>
        <p:spPr>
          <a:xfrm>
            <a:off x="368300" y="3006829"/>
            <a:ext cx="114046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분석 배경 및 목적</a:t>
            </a:r>
            <a:endParaRPr lang="en-US" altLang="ko-KR" sz="5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1113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 woman is crying in front of a crowd of people">
            <a:extLst>
              <a:ext uri="{FF2B5EF4-FFF2-40B4-BE49-F238E27FC236}">
                <a16:creationId xmlns:a16="http://schemas.microsoft.com/office/drawing/2014/main" id="{A1F0FB2C-7AC6-4C2A-85C6-8306C33E4D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4" b="1282"/>
          <a:stretch/>
        </p:blipFill>
        <p:spPr bwMode="auto">
          <a:xfrm>
            <a:off x="-1" y="-2"/>
            <a:ext cx="12192001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8DDCB2D-BC76-4CD1-9C03-A70821646CBD}"/>
              </a:ext>
            </a:extLst>
          </p:cNvPr>
          <p:cNvSpPr/>
          <p:nvPr/>
        </p:nvSpPr>
        <p:spPr>
          <a:xfrm>
            <a:off x="105508" y="96715"/>
            <a:ext cx="11966329" cy="6673361"/>
          </a:xfrm>
          <a:prstGeom prst="rect">
            <a:avLst/>
          </a:prstGeom>
          <a:noFill/>
          <a:ln w="12700">
            <a:solidFill>
              <a:srgbClr val="F4F4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4043EE-4C4C-47C6-92AA-B9786DFB6CD2}"/>
              </a:ext>
            </a:extLst>
          </p:cNvPr>
          <p:cNvSpPr>
            <a:spLocks noChangeAspect="1"/>
          </p:cNvSpPr>
          <p:nvPr/>
        </p:nvSpPr>
        <p:spPr>
          <a:xfrm>
            <a:off x="103837" y="63000"/>
            <a:ext cx="11968000" cy="67320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AAA434-8536-4D7C-857C-14AAFF31EE54}"/>
              </a:ext>
            </a:extLst>
          </p:cNvPr>
          <p:cNvSpPr/>
          <p:nvPr/>
        </p:nvSpPr>
        <p:spPr>
          <a:xfrm>
            <a:off x="368300" y="253953"/>
            <a:ext cx="11430000" cy="631194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FC7BBE-ABF4-4E81-8C34-168C25CBB1C6}"/>
              </a:ext>
            </a:extLst>
          </p:cNvPr>
          <p:cNvSpPr txBox="1"/>
          <p:nvPr/>
        </p:nvSpPr>
        <p:spPr>
          <a:xfrm>
            <a:off x="387350" y="482704"/>
            <a:ext cx="114046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악화되는 청년 건강 상태</a:t>
            </a:r>
            <a:endParaRPr lang="en-US" altLang="ko-KR" sz="3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CD3683E6-05CB-4BAD-A904-EA235014B9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999585"/>
              </p:ext>
            </p:extLst>
          </p:nvPr>
        </p:nvGraphicFramePr>
        <p:xfrm>
          <a:off x="767522" y="3566049"/>
          <a:ext cx="5491902" cy="27066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201330C8-4508-44E8-A57C-C3E666F90B3E}"/>
              </a:ext>
            </a:extLst>
          </p:cNvPr>
          <p:cNvGrpSpPr/>
          <p:nvPr/>
        </p:nvGrpSpPr>
        <p:grpSpPr>
          <a:xfrm>
            <a:off x="542523" y="1243247"/>
            <a:ext cx="5943875" cy="2071931"/>
            <a:chOff x="459906" y="1342397"/>
            <a:chExt cx="5943875" cy="2071931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32C389C3-429D-4261-801B-ECD45E458C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75317">
              <a:off x="784268" y="1342397"/>
              <a:ext cx="5503637" cy="554171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BA62F41A-0D74-41EA-B673-FBFFDFB44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58982">
              <a:off x="840132" y="2040601"/>
              <a:ext cx="5503636" cy="476560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553CA6B3-3A55-484E-A9CB-4D6DC925E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55702">
              <a:off x="932165" y="2560450"/>
              <a:ext cx="5471616" cy="476560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C8D80442-83CE-4C55-A02B-E2488DCD5C1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59906" y="2786598"/>
              <a:ext cx="5315197" cy="326793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DF822000-F75E-4E35-94D1-2A10072595F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390326">
              <a:off x="524089" y="1786901"/>
              <a:ext cx="4412117" cy="270919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00CB4CEB-0EBE-4ECC-B207-EBEFAABBCB4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265559">
              <a:off x="464639" y="2305433"/>
              <a:ext cx="3122024" cy="249418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C908C84D-4C86-447F-92FB-41FDAD62E9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01859" y="3089905"/>
              <a:ext cx="5067701" cy="324423"/>
            </a:xfrm>
            <a:prstGeom prst="rect">
              <a:avLst/>
            </a:prstGeom>
          </p:spPr>
        </p:pic>
      </p:grpSp>
      <p:graphicFrame>
        <p:nvGraphicFramePr>
          <p:cNvPr id="26" name="차트 25">
            <a:extLst>
              <a:ext uri="{FF2B5EF4-FFF2-40B4-BE49-F238E27FC236}">
                <a16:creationId xmlns:a16="http://schemas.microsoft.com/office/drawing/2014/main" id="{C5E402F8-4083-4259-9105-2DC80C7E1C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3231326"/>
              </p:ext>
            </p:extLst>
          </p:nvPr>
        </p:nvGraphicFramePr>
        <p:xfrm>
          <a:off x="6784285" y="1406805"/>
          <a:ext cx="4747111" cy="48659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</p:spTree>
    <p:extLst>
      <p:ext uri="{BB962C8B-B14F-4D97-AF65-F5344CB8AC3E}">
        <p14:creationId xmlns:p14="http://schemas.microsoft.com/office/powerpoint/2010/main" val="149475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 woman is crying in front of a crowd of people">
            <a:extLst>
              <a:ext uri="{FF2B5EF4-FFF2-40B4-BE49-F238E27FC236}">
                <a16:creationId xmlns:a16="http://schemas.microsoft.com/office/drawing/2014/main" id="{A1F0FB2C-7AC6-4C2A-85C6-8306C33E4D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4" b="1282"/>
          <a:stretch/>
        </p:blipFill>
        <p:spPr bwMode="auto">
          <a:xfrm>
            <a:off x="-1" y="-2"/>
            <a:ext cx="12192001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8DDCB2D-BC76-4CD1-9C03-A70821646CBD}"/>
              </a:ext>
            </a:extLst>
          </p:cNvPr>
          <p:cNvSpPr/>
          <p:nvPr/>
        </p:nvSpPr>
        <p:spPr>
          <a:xfrm>
            <a:off x="105508" y="96715"/>
            <a:ext cx="11966329" cy="6673361"/>
          </a:xfrm>
          <a:prstGeom prst="rect">
            <a:avLst/>
          </a:prstGeom>
          <a:noFill/>
          <a:ln w="12700">
            <a:solidFill>
              <a:srgbClr val="F4F4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4043EE-4C4C-47C6-92AA-B9786DFB6CD2}"/>
              </a:ext>
            </a:extLst>
          </p:cNvPr>
          <p:cNvSpPr>
            <a:spLocks noChangeAspect="1"/>
          </p:cNvSpPr>
          <p:nvPr/>
        </p:nvSpPr>
        <p:spPr>
          <a:xfrm>
            <a:off x="103837" y="63000"/>
            <a:ext cx="11968000" cy="67320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AAA434-8536-4D7C-857C-14AAFF31EE54}"/>
              </a:ext>
            </a:extLst>
          </p:cNvPr>
          <p:cNvSpPr/>
          <p:nvPr/>
        </p:nvSpPr>
        <p:spPr>
          <a:xfrm>
            <a:off x="368300" y="253953"/>
            <a:ext cx="11430000" cy="631194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6A170E-DE02-4758-936B-A52E9EA886E3}"/>
              </a:ext>
            </a:extLst>
          </p:cNvPr>
          <p:cNvSpPr txBox="1"/>
          <p:nvPr/>
        </p:nvSpPr>
        <p:spPr>
          <a:xfrm>
            <a:off x="387350" y="482704"/>
            <a:ext cx="114046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청년의 건강 </a:t>
            </a:r>
            <a:r>
              <a:rPr lang="en-US" altLang="ko-KR" sz="3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 </a:t>
            </a:r>
            <a:r>
              <a:rPr lang="ko-KR" altLang="en-US" sz="3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신체에 대한 관심 부족</a:t>
            </a:r>
            <a:endParaRPr lang="en-US" altLang="ko-KR" sz="3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07FFDC31-553F-444F-AF52-CB436B38775E}"/>
              </a:ext>
            </a:extLst>
          </p:cNvPr>
          <p:cNvGrpSpPr/>
          <p:nvPr/>
        </p:nvGrpSpPr>
        <p:grpSpPr>
          <a:xfrm>
            <a:off x="712544" y="1322719"/>
            <a:ext cx="4747111" cy="4865936"/>
            <a:chOff x="712544" y="1322719"/>
            <a:chExt cx="4747111" cy="4865936"/>
          </a:xfrm>
        </p:grpSpPr>
        <p:graphicFrame>
          <p:nvGraphicFramePr>
            <p:cNvPr id="26" name="차트 25">
              <a:extLst>
                <a:ext uri="{FF2B5EF4-FFF2-40B4-BE49-F238E27FC236}">
                  <a16:creationId xmlns:a16="http://schemas.microsoft.com/office/drawing/2014/main" id="{C5E402F8-4083-4259-9105-2DC80C7E1C2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717892109"/>
                </p:ext>
              </p:extLst>
            </p:nvPr>
          </p:nvGraphicFramePr>
          <p:xfrm>
            <a:off x="712544" y="1322719"/>
            <a:ext cx="4747111" cy="486593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F467014-C15B-462D-8964-E297AF4A718C}"/>
                </a:ext>
              </a:extLst>
            </p:cNvPr>
            <p:cNvSpPr txBox="1"/>
            <p:nvPr/>
          </p:nvSpPr>
          <p:spPr>
            <a:xfrm>
              <a:off x="1126790" y="2400819"/>
              <a:ext cx="94865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800" b="1" dirty="0">
                  <a:solidFill>
                    <a:srgbClr val="003366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55.9%</a:t>
              </a:r>
              <a:endParaRPr lang="ko-KR" altLang="en-US" b="1" dirty="0">
                <a:solidFill>
                  <a:srgbClr val="003366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7C6953D-BEA6-422E-A33F-B1600DED0EDA}"/>
                </a:ext>
              </a:extLst>
            </p:cNvPr>
            <p:cNvSpPr txBox="1"/>
            <p:nvPr/>
          </p:nvSpPr>
          <p:spPr>
            <a:xfrm>
              <a:off x="4096759" y="2178053"/>
              <a:ext cx="94865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800" b="1" dirty="0">
                  <a:solidFill>
                    <a:srgbClr val="CC0000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60.3%</a:t>
              </a:r>
              <a:endParaRPr lang="ko-KR" altLang="en-US" b="1" dirty="0">
                <a:solidFill>
                  <a:srgbClr val="CC0000"/>
                </a:solidFill>
              </a:endParaRPr>
            </a:p>
          </p:txBody>
        </p:sp>
      </p:grpSp>
      <p:graphicFrame>
        <p:nvGraphicFramePr>
          <p:cNvPr id="37" name="차트 36">
            <a:extLst>
              <a:ext uri="{FF2B5EF4-FFF2-40B4-BE49-F238E27FC236}">
                <a16:creationId xmlns:a16="http://schemas.microsoft.com/office/drawing/2014/main" id="{784D09B6-5B2F-480E-AF37-E17B48A64E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9471132"/>
              </p:ext>
            </p:extLst>
          </p:nvPr>
        </p:nvGraphicFramePr>
        <p:xfrm>
          <a:off x="6389196" y="1270884"/>
          <a:ext cx="5174153" cy="44917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4F335B3A-5631-46B9-A02D-3C95D3AE6AE9}"/>
              </a:ext>
            </a:extLst>
          </p:cNvPr>
          <p:cNvSpPr txBox="1"/>
          <p:nvPr/>
        </p:nvSpPr>
        <p:spPr>
          <a:xfrm>
            <a:off x="5130431" y="3300479"/>
            <a:ext cx="771073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운동인구 </a:t>
            </a:r>
            <a:r>
              <a:rPr lang="en-US" altLang="ko-KR" sz="2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48%</a:t>
            </a:r>
          </a:p>
          <a:p>
            <a:pPr algn="ctr"/>
            <a:r>
              <a:rPr lang="ko-KR" altLang="en-US" sz="2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 연령 중 최하위</a:t>
            </a:r>
            <a:endParaRPr lang="en-US" altLang="ko-KR" sz="22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en-US" altLang="ko-KR" sz="2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OECD </a:t>
            </a:r>
            <a:r>
              <a:rPr lang="ko-KR" altLang="en-US" sz="2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최하위 </a:t>
            </a:r>
            <a:endParaRPr lang="en-US" altLang="ko-KR" sz="22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BB9F38E-6C07-4DA2-9EA9-22EEEBE101DB}"/>
              </a:ext>
            </a:extLst>
          </p:cNvPr>
          <p:cNvSpPr txBox="1"/>
          <p:nvPr/>
        </p:nvSpPr>
        <p:spPr>
          <a:xfrm>
            <a:off x="860424" y="6252490"/>
            <a:ext cx="4451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문화체육관광부</a:t>
            </a:r>
            <a:r>
              <a:rPr lang="en-US" altLang="ko-KR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「</a:t>
            </a:r>
            <a:r>
              <a:rPr lang="en-US" altLang="ko-KR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2023 </a:t>
            </a:r>
            <a:r>
              <a:rPr lang="ko-KR" altLang="en-US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국민생활체육」</a:t>
            </a:r>
            <a:endParaRPr lang="en-US" altLang="ko-KR" sz="12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08AE8DF-5748-49A1-B194-EEF54592C55D}"/>
              </a:ext>
            </a:extLst>
          </p:cNvPr>
          <p:cNvSpPr txBox="1"/>
          <p:nvPr/>
        </p:nvSpPr>
        <p:spPr>
          <a:xfrm>
            <a:off x="6760121" y="5777339"/>
            <a:ext cx="4451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통계청 국가지표체계</a:t>
            </a:r>
            <a:r>
              <a:rPr lang="en-US" altLang="ko-KR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「</a:t>
            </a:r>
            <a:r>
              <a:rPr lang="ko-KR" altLang="en-US" sz="1200" dirty="0" err="1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신체횔동실천율</a:t>
            </a:r>
            <a:r>
              <a:rPr lang="ko-KR" altLang="en-US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」</a:t>
            </a:r>
            <a:r>
              <a:rPr lang="en-US" altLang="ko-KR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(2024)</a:t>
            </a:r>
          </a:p>
        </p:txBody>
      </p:sp>
    </p:spTree>
    <p:extLst>
      <p:ext uri="{BB962C8B-B14F-4D97-AF65-F5344CB8AC3E}">
        <p14:creationId xmlns:p14="http://schemas.microsoft.com/office/powerpoint/2010/main" val="2805298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 woman is crying in front of a crowd of people">
            <a:extLst>
              <a:ext uri="{FF2B5EF4-FFF2-40B4-BE49-F238E27FC236}">
                <a16:creationId xmlns:a16="http://schemas.microsoft.com/office/drawing/2014/main" id="{A1F0FB2C-7AC6-4C2A-85C6-8306C33E4D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4" b="1282"/>
          <a:stretch/>
        </p:blipFill>
        <p:spPr bwMode="auto">
          <a:xfrm>
            <a:off x="-1" y="-2"/>
            <a:ext cx="12192001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8DDCB2D-BC76-4CD1-9C03-A70821646CBD}"/>
              </a:ext>
            </a:extLst>
          </p:cNvPr>
          <p:cNvSpPr/>
          <p:nvPr/>
        </p:nvSpPr>
        <p:spPr>
          <a:xfrm>
            <a:off x="105508" y="96715"/>
            <a:ext cx="11966329" cy="6673361"/>
          </a:xfrm>
          <a:prstGeom prst="rect">
            <a:avLst/>
          </a:prstGeom>
          <a:noFill/>
          <a:ln w="12700">
            <a:solidFill>
              <a:srgbClr val="F4F4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4043EE-4C4C-47C6-92AA-B9786DFB6CD2}"/>
              </a:ext>
            </a:extLst>
          </p:cNvPr>
          <p:cNvSpPr>
            <a:spLocks noChangeAspect="1"/>
          </p:cNvSpPr>
          <p:nvPr/>
        </p:nvSpPr>
        <p:spPr>
          <a:xfrm>
            <a:off x="103837" y="63000"/>
            <a:ext cx="11968000" cy="67320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AAA434-8536-4D7C-857C-14AAFF31EE54}"/>
              </a:ext>
            </a:extLst>
          </p:cNvPr>
          <p:cNvSpPr/>
          <p:nvPr/>
        </p:nvSpPr>
        <p:spPr>
          <a:xfrm>
            <a:off x="368300" y="253953"/>
            <a:ext cx="11430000" cy="631194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FC7BBE-ABF4-4E81-8C34-168C25CBB1C6}"/>
              </a:ext>
            </a:extLst>
          </p:cNvPr>
          <p:cNvSpPr txBox="1"/>
          <p:nvPr/>
        </p:nvSpPr>
        <p:spPr>
          <a:xfrm>
            <a:off x="368300" y="387454"/>
            <a:ext cx="11404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500" dirty="0"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“</a:t>
            </a:r>
            <a:r>
              <a:rPr lang="ko-KR" altLang="en-US" sz="2500" dirty="0"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청년들이 </a:t>
            </a:r>
            <a:r>
              <a:rPr lang="ko-KR" altLang="en-US" sz="2500" dirty="0">
                <a:ln>
                  <a:solidFill>
                    <a:schemeClr val="bg1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손쉽게</a:t>
            </a:r>
            <a:r>
              <a:rPr lang="ko-KR" altLang="en-US" sz="2500" dirty="0"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자기 건강을 모니터링하고</a:t>
            </a:r>
            <a:r>
              <a:rPr lang="en-US" altLang="ko-KR" sz="2500" dirty="0"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</a:t>
            </a:r>
          </a:p>
          <a:p>
            <a:pPr algn="r">
              <a:lnSpc>
                <a:spcPct val="120000"/>
              </a:lnSpc>
            </a:pPr>
            <a:r>
              <a:rPr lang="ko-KR" altLang="en-US" sz="2500" dirty="0"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스스로의 </a:t>
            </a:r>
            <a:r>
              <a:rPr lang="ko-KR" altLang="en-US" sz="2500" dirty="0">
                <a:ln>
                  <a:solidFill>
                    <a:schemeClr val="bg1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객관적 신체능력 수준</a:t>
            </a:r>
            <a:r>
              <a:rPr lang="ko-KR" altLang="en-US" sz="2500" dirty="0"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을 평가할 솔루션 필요</a:t>
            </a:r>
            <a:r>
              <a:rPr lang="en-US" altLang="ko-KR" sz="2500" dirty="0"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”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3B27FD9-48E0-47E4-ACFD-DF4A7B242291}"/>
              </a:ext>
            </a:extLst>
          </p:cNvPr>
          <p:cNvGrpSpPr/>
          <p:nvPr/>
        </p:nvGrpSpPr>
        <p:grpSpPr>
          <a:xfrm>
            <a:off x="861768" y="2056363"/>
            <a:ext cx="4753462" cy="3466170"/>
            <a:chOff x="601906" y="1452805"/>
            <a:chExt cx="4753462" cy="3466170"/>
          </a:xfrm>
        </p:grpSpPr>
        <p:pic>
          <p:nvPicPr>
            <p:cNvPr id="5122" name="Picture 2" descr="Woman measuring body composition balance, standing on the medical scales during Inbody test at the luxury spa salon">
              <a:extLst>
                <a:ext uri="{FF2B5EF4-FFF2-40B4-BE49-F238E27FC236}">
                  <a16:creationId xmlns:a16="http://schemas.microsoft.com/office/drawing/2014/main" id="{639C3E99-A6DE-45AA-BDD3-DB8A127C27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906" y="1452805"/>
              <a:ext cx="2805356" cy="18702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4" name="Picture 4" descr="Doctor using sphygmomanometer with stethoscope checking blood pressure to a patient in the hospital.">
              <a:extLst>
                <a:ext uri="{FF2B5EF4-FFF2-40B4-BE49-F238E27FC236}">
                  <a16:creationId xmlns:a16="http://schemas.microsoft.com/office/drawing/2014/main" id="{77F23053-EF44-4678-81D7-C50779DF19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0012" y="2006362"/>
              <a:ext cx="2805356" cy="18702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6" name="Picture 6" descr="health announ check list of person every year">
              <a:extLst>
                <a:ext uri="{FF2B5EF4-FFF2-40B4-BE49-F238E27FC236}">
                  <a16:creationId xmlns:a16="http://schemas.microsoft.com/office/drawing/2014/main" id="{6C6E7A9F-956B-48EE-8E9A-5E8FBDB4C3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0844" y="3048738"/>
              <a:ext cx="2805356" cy="18702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628A17C-BAD3-4562-86C2-76FC2572D998}"/>
              </a:ext>
            </a:extLst>
          </p:cNvPr>
          <p:cNvSpPr txBox="1"/>
          <p:nvPr/>
        </p:nvSpPr>
        <p:spPr>
          <a:xfrm>
            <a:off x="1012824" y="1622126"/>
            <a:ext cx="445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기존 방법들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정기건강검진 등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1DE04A-6206-4652-89E1-B7A60876153E}"/>
              </a:ext>
            </a:extLst>
          </p:cNvPr>
          <p:cNvSpPr txBox="1"/>
          <p:nvPr/>
        </p:nvSpPr>
        <p:spPr>
          <a:xfrm>
            <a:off x="888999" y="5718885"/>
            <a:ext cx="46024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질병과 건강에 대한 관심이 떨어지는 시기</a:t>
            </a:r>
            <a:r>
              <a:rPr lang="en-US" altLang="ko-KR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건강검진을 </a:t>
            </a:r>
            <a:r>
              <a:rPr lang="en-US" altLang="ko-KR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‘</a:t>
            </a:r>
            <a:r>
              <a:rPr lang="ko-KR" altLang="en-US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귀찮게</a:t>
            </a:r>
            <a:r>
              <a:rPr lang="en-US" altLang="ko-KR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＇</a:t>
            </a:r>
            <a:r>
              <a:rPr lang="ko-KR" altLang="en-US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인식</a:t>
            </a:r>
            <a:endParaRPr lang="en-US" altLang="ko-KR" sz="12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622FC2-C984-4AA3-B92E-7A1B59F803FF}"/>
              </a:ext>
            </a:extLst>
          </p:cNvPr>
          <p:cNvSpPr txBox="1"/>
          <p:nvPr/>
        </p:nvSpPr>
        <p:spPr>
          <a:xfrm>
            <a:off x="888999" y="6029118"/>
            <a:ext cx="4451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종합검사의 경우 높은 정확성</a:t>
            </a:r>
            <a:r>
              <a:rPr lang="en-US" altLang="ko-KR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 </a:t>
            </a:r>
            <a:r>
              <a:rPr lang="ko-KR" altLang="en-US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그러나 </a:t>
            </a:r>
            <a:r>
              <a:rPr lang="en-US" altLang="ko-KR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‘</a:t>
            </a:r>
            <a:r>
              <a:rPr lang="ko-KR" altLang="en-US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알기 쉬운</a:t>
            </a:r>
            <a:r>
              <a:rPr lang="en-US" altLang="ko-KR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‘ </a:t>
            </a:r>
            <a:r>
              <a:rPr lang="ko-KR" altLang="en-US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지표 부재</a:t>
            </a:r>
            <a:endParaRPr lang="en-US" altLang="ko-KR" sz="12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17" name="그림 16" descr="Young Fitness Man Exercising. Living Healthy Lifestyle.">
            <a:extLst>
              <a:ext uri="{FF2B5EF4-FFF2-40B4-BE49-F238E27FC236}">
                <a16:creationId xmlns:a16="http://schemas.microsoft.com/office/drawing/2014/main" id="{4D7C744D-DD84-4D83-B85A-B14BB9ECA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75" t="59" r="15322" b="16836"/>
          <a:stretch>
            <a:fillRect/>
          </a:stretch>
        </p:blipFill>
        <p:spPr bwMode="auto">
          <a:xfrm>
            <a:off x="7315686" y="2027788"/>
            <a:ext cx="3333264" cy="3333264"/>
          </a:xfrm>
          <a:custGeom>
            <a:avLst/>
            <a:gdLst>
              <a:gd name="connsiteX0" fmla="*/ 1681163 w 3362326"/>
              <a:gd name="connsiteY0" fmla="*/ 0 h 3362326"/>
              <a:gd name="connsiteX1" fmla="*/ 3362326 w 3362326"/>
              <a:gd name="connsiteY1" fmla="*/ 1681163 h 3362326"/>
              <a:gd name="connsiteX2" fmla="*/ 1681163 w 3362326"/>
              <a:gd name="connsiteY2" fmla="*/ 3362326 h 3362326"/>
              <a:gd name="connsiteX3" fmla="*/ 0 w 3362326"/>
              <a:gd name="connsiteY3" fmla="*/ 1681163 h 3362326"/>
              <a:gd name="connsiteX4" fmla="*/ 1681163 w 3362326"/>
              <a:gd name="connsiteY4" fmla="*/ 0 h 3362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62326" h="3362326">
                <a:moveTo>
                  <a:pt x="1681163" y="0"/>
                </a:moveTo>
                <a:cubicBezTo>
                  <a:pt x="2609644" y="0"/>
                  <a:pt x="3362326" y="752682"/>
                  <a:pt x="3362326" y="1681163"/>
                </a:cubicBezTo>
                <a:cubicBezTo>
                  <a:pt x="3362326" y="2609644"/>
                  <a:pt x="2609644" y="3362326"/>
                  <a:pt x="1681163" y="3362326"/>
                </a:cubicBezTo>
                <a:cubicBezTo>
                  <a:pt x="752682" y="3362326"/>
                  <a:pt x="0" y="2609644"/>
                  <a:pt x="0" y="1681163"/>
                </a:cubicBezTo>
                <a:cubicBezTo>
                  <a:pt x="0" y="752682"/>
                  <a:pt x="752682" y="0"/>
                  <a:pt x="1681163" y="0"/>
                </a:cubicBezTo>
                <a:close/>
              </a:path>
            </a:pathLst>
          </a:cu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7429849-66F5-4983-A91B-20487084AE33}"/>
              </a:ext>
            </a:extLst>
          </p:cNvPr>
          <p:cNvSpPr txBox="1"/>
          <p:nvPr/>
        </p:nvSpPr>
        <p:spPr>
          <a:xfrm>
            <a:off x="6851653" y="1622126"/>
            <a:ext cx="445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청년 대상 신체능력 모니터링 시스템 필요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0BAFAC-387F-4BD3-B4E3-E392D006F770}"/>
              </a:ext>
            </a:extLst>
          </p:cNvPr>
          <p:cNvSpPr txBox="1"/>
          <p:nvPr/>
        </p:nvSpPr>
        <p:spPr>
          <a:xfrm>
            <a:off x="6851651" y="5718885"/>
            <a:ext cx="4451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현재 청년에게 익숙한 </a:t>
            </a:r>
            <a:r>
              <a:rPr lang="en-US" altLang="ko-KR" sz="1200" b="1" dirty="0">
                <a:ln>
                  <a:solidFill>
                    <a:schemeClr val="bg1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PAPS </a:t>
            </a:r>
            <a:r>
              <a:rPr lang="ko-KR" altLang="en-US" sz="1200" b="1" dirty="0">
                <a:ln>
                  <a:solidFill>
                    <a:schemeClr val="bg1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지표</a:t>
            </a:r>
            <a:r>
              <a:rPr lang="ko-KR" altLang="en-US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활용</a:t>
            </a:r>
            <a:endParaRPr lang="en-US" altLang="ko-KR" sz="12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ECE31F-7A39-4CD4-887B-7FD48AD7F529}"/>
              </a:ext>
            </a:extLst>
          </p:cNvPr>
          <p:cNvSpPr txBox="1"/>
          <p:nvPr/>
        </p:nvSpPr>
        <p:spPr>
          <a:xfrm>
            <a:off x="6851651" y="6029118"/>
            <a:ext cx="4451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200" b="1" dirty="0">
                <a:ln>
                  <a:solidFill>
                    <a:schemeClr val="bg1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직관적</a:t>
            </a:r>
            <a:r>
              <a:rPr lang="ko-KR" altLang="en-US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이고 </a:t>
            </a:r>
            <a:r>
              <a:rPr lang="ko-KR" altLang="en-US" sz="1200" b="1" dirty="0">
                <a:ln>
                  <a:solidFill>
                    <a:schemeClr val="bg1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친숙</a:t>
            </a:r>
            <a:r>
              <a:rPr lang="ko-KR" altLang="en-US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</a:t>
            </a:r>
            <a:r>
              <a:rPr lang="ko-KR" altLang="en-US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지표</a:t>
            </a:r>
            <a:r>
              <a:rPr lang="en-US" altLang="ko-KR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</a:t>
            </a:r>
            <a:r>
              <a:rPr lang="ko-KR" altLang="en-US" sz="1200" b="1" dirty="0" err="1">
                <a:ln>
                  <a:solidFill>
                    <a:schemeClr val="bg1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티어</a:t>
            </a:r>
            <a:r>
              <a:rPr lang="en-US" altLang="ko-KR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 </a:t>
            </a:r>
            <a:r>
              <a:rPr lang="ko-KR" altLang="en-US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바탕으로 신체 활동 관심 증진</a:t>
            </a:r>
            <a:endParaRPr lang="en-US" altLang="ko-KR" sz="12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F713CDAA-BC25-4670-8EE8-72BB7FDAE4F5}"/>
              </a:ext>
            </a:extLst>
          </p:cNvPr>
          <p:cNvGrpSpPr/>
          <p:nvPr/>
        </p:nvGrpSpPr>
        <p:grpSpPr>
          <a:xfrm>
            <a:off x="5933601" y="3167929"/>
            <a:ext cx="852832" cy="526004"/>
            <a:chOff x="5986941" y="3167929"/>
            <a:chExt cx="852832" cy="526004"/>
          </a:xfrm>
        </p:grpSpPr>
        <p:sp>
          <p:nvSpPr>
            <p:cNvPr id="15" name="L 도형 14">
              <a:extLst>
                <a:ext uri="{FF2B5EF4-FFF2-40B4-BE49-F238E27FC236}">
                  <a16:creationId xmlns:a16="http://schemas.microsoft.com/office/drawing/2014/main" id="{C54AA4DC-AAB7-4F1D-BC06-11C71F2D2A99}"/>
                </a:ext>
              </a:extLst>
            </p:cNvPr>
            <p:cNvSpPr/>
            <p:nvPr/>
          </p:nvSpPr>
          <p:spPr>
            <a:xfrm rot="13464526">
              <a:off x="6313769" y="3167929"/>
              <a:ext cx="526004" cy="526004"/>
            </a:xfrm>
            <a:prstGeom prst="corner">
              <a:avLst>
                <a:gd name="adj1" fmla="val 21769"/>
                <a:gd name="adj2" fmla="val 2357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L 도형 39">
              <a:extLst>
                <a:ext uri="{FF2B5EF4-FFF2-40B4-BE49-F238E27FC236}">
                  <a16:creationId xmlns:a16="http://schemas.microsoft.com/office/drawing/2014/main" id="{4E10B373-5038-40CF-8A24-7AD2CC2527C4}"/>
                </a:ext>
              </a:extLst>
            </p:cNvPr>
            <p:cNvSpPr/>
            <p:nvPr/>
          </p:nvSpPr>
          <p:spPr>
            <a:xfrm rot="13464526">
              <a:off x="5986941" y="3167929"/>
              <a:ext cx="526004" cy="526004"/>
            </a:xfrm>
            <a:prstGeom prst="corner">
              <a:avLst>
                <a:gd name="adj1" fmla="val 21769"/>
                <a:gd name="adj2" fmla="val 23579"/>
              </a:avLst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48242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Many charts and graphs. Reflection light and flare.　Concept image of data gathering and statistical working.&#10;                        ">
            <a:extLst>
              <a:ext uri="{FF2B5EF4-FFF2-40B4-BE49-F238E27FC236}">
                <a16:creationId xmlns:a16="http://schemas.microsoft.com/office/drawing/2014/main" id="{FADCE2AA-10C6-4BAE-849A-1FC6944D1A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23" b="5167"/>
          <a:stretch/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8DDCB2D-BC76-4CD1-9C03-A70821646CBD}"/>
              </a:ext>
            </a:extLst>
          </p:cNvPr>
          <p:cNvSpPr/>
          <p:nvPr/>
        </p:nvSpPr>
        <p:spPr>
          <a:xfrm>
            <a:off x="105508" y="96715"/>
            <a:ext cx="11966329" cy="6673361"/>
          </a:xfrm>
          <a:prstGeom prst="rect">
            <a:avLst/>
          </a:prstGeom>
          <a:noFill/>
          <a:ln w="12700">
            <a:solidFill>
              <a:srgbClr val="F4F4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4043EE-4C4C-47C6-92AA-B9786DFB6CD2}"/>
              </a:ext>
            </a:extLst>
          </p:cNvPr>
          <p:cNvSpPr>
            <a:spLocks noChangeAspect="1"/>
          </p:cNvSpPr>
          <p:nvPr/>
        </p:nvSpPr>
        <p:spPr>
          <a:xfrm>
            <a:off x="112629" y="63000"/>
            <a:ext cx="11968000" cy="67320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AAA434-8536-4D7C-857C-14AAFF31EE54}"/>
              </a:ext>
            </a:extLst>
          </p:cNvPr>
          <p:cNvSpPr/>
          <p:nvPr/>
        </p:nvSpPr>
        <p:spPr>
          <a:xfrm>
            <a:off x="368300" y="253953"/>
            <a:ext cx="11430000" cy="631194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FC7BBE-ABF4-4E81-8C34-168C25CBB1C6}"/>
              </a:ext>
            </a:extLst>
          </p:cNvPr>
          <p:cNvSpPr txBox="1"/>
          <p:nvPr/>
        </p:nvSpPr>
        <p:spPr>
          <a:xfrm>
            <a:off x="368300" y="3006829"/>
            <a:ext cx="114046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 분석</a:t>
            </a:r>
            <a:endParaRPr lang="en-US" altLang="ko-KR" sz="5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4098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Many charts and graphs. Reflection light and flare.　Concept image of data gathering and statistical working.&#10;                        ">
            <a:extLst>
              <a:ext uri="{FF2B5EF4-FFF2-40B4-BE49-F238E27FC236}">
                <a16:creationId xmlns:a16="http://schemas.microsoft.com/office/drawing/2014/main" id="{FADCE2AA-10C6-4BAE-849A-1FC6944D1A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23" b="5167"/>
          <a:stretch/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8DDCB2D-BC76-4CD1-9C03-A70821646CBD}"/>
              </a:ext>
            </a:extLst>
          </p:cNvPr>
          <p:cNvSpPr/>
          <p:nvPr/>
        </p:nvSpPr>
        <p:spPr>
          <a:xfrm>
            <a:off x="105508" y="96715"/>
            <a:ext cx="11966329" cy="6673361"/>
          </a:xfrm>
          <a:prstGeom prst="rect">
            <a:avLst/>
          </a:prstGeom>
          <a:noFill/>
          <a:ln w="12700">
            <a:solidFill>
              <a:srgbClr val="F4F4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4043EE-4C4C-47C6-92AA-B9786DFB6CD2}"/>
              </a:ext>
            </a:extLst>
          </p:cNvPr>
          <p:cNvSpPr>
            <a:spLocks noChangeAspect="1"/>
          </p:cNvSpPr>
          <p:nvPr/>
        </p:nvSpPr>
        <p:spPr>
          <a:xfrm>
            <a:off x="103837" y="87924"/>
            <a:ext cx="11968000" cy="67320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AAA434-8536-4D7C-857C-14AAFF31EE54}"/>
              </a:ext>
            </a:extLst>
          </p:cNvPr>
          <p:cNvSpPr/>
          <p:nvPr/>
        </p:nvSpPr>
        <p:spPr>
          <a:xfrm>
            <a:off x="368300" y="253953"/>
            <a:ext cx="11430000" cy="631194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FEC6C1F-2EA6-40ED-9BA9-703AA2A9D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810" y="461125"/>
            <a:ext cx="3086531" cy="1609950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C2F8343-95F7-4323-A819-51A57C8AEE8C}"/>
              </a:ext>
            </a:extLst>
          </p:cNvPr>
          <p:cNvSpPr txBox="1"/>
          <p:nvPr/>
        </p:nvSpPr>
        <p:spPr>
          <a:xfrm>
            <a:off x="819400" y="2228313"/>
            <a:ext cx="4451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국민체육진흥공단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‘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체력측정 및 운동처방 종합 데이터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’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45E7FE9-2897-48CF-8481-FC8196EA2A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508" y="2962567"/>
            <a:ext cx="1967051" cy="3316597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BFB980DA-A566-4C41-B5AE-04482CB593A4}"/>
              </a:ext>
            </a:extLst>
          </p:cNvPr>
          <p:cNvSpPr/>
          <p:nvPr/>
        </p:nvSpPr>
        <p:spPr>
          <a:xfrm>
            <a:off x="519518" y="397650"/>
            <a:ext cx="5046013" cy="602560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8A66A6-8060-4BB6-9B94-F9C81C97E793}"/>
              </a:ext>
            </a:extLst>
          </p:cNvPr>
          <p:cNvSpPr txBox="1"/>
          <p:nvPr/>
        </p:nvSpPr>
        <p:spPr>
          <a:xfrm>
            <a:off x="2651955" y="3750293"/>
            <a:ext cx="2936572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altLang="ko-KR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51</a:t>
            </a:r>
            <a:r>
              <a:rPr lang="ko-KR" altLang="en-US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개 컬럼</a:t>
            </a:r>
            <a:endParaRPr lang="en-US" altLang="ko-KR" sz="12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ko-KR" altLang="en-US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연령</a:t>
            </a:r>
            <a:r>
              <a:rPr lang="en-US" altLang="ko-KR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측정장소</a:t>
            </a:r>
            <a:r>
              <a:rPr lang="en-US" altLang="ko-KR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등급 등 인적사항 </a:t>
            </a:r>
            <a:r>
              <a:rPr lang="en-US" altLang="ko-KR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10</a:t>
            </a:r>
            <a:r>
              <a:rPr lang="ko-KR" altLang="en-US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개</a:t>
            </a:r>
            <a:endParaRPr lang="en-US" altLang="ko-KR" sz="12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ko-KR" altLang="en-US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신장</a:t>
            </a:r>
            <a:r>
              <a:rPr lang="en-US" altLang="ko-KR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체중</a:t>
            </a:r>
            <a:r>
              <a:rPr lang="en-US" altLang="ko-KR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악력</a:t>
            </a:r>
            <a:r>
              <a:rPr lang="en-US" altLang="ko-KR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수행능력 </a:t>
            </a:r>
            <a:r>
              <a:rPr lang="ko-KR" altLang="en-US" sz="1200" dirty="0" err="1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틍</a:t>
            </a:r>
            <a:r>
              <a:rPr lang="ko-KR" altLang="en-US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측정치 </a:t>
            </a:r>
            <a:r>
              <a:rPr lang="en-US" altLang="ko-KR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40</a:t>
            </a:r>
            <a:r>
              <a:rPr lang="ko-KR" altLang="en-US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개</a:t>
            </a:r>
            <a:endParaRPr lang="en-US" altLang="ko-KR" sz="12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ko-KR" altLang="en-US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운동처방내용</a:t>
            </a:r>
            <a:r>
              <a:rPr lang="en-US" altLang="ko-KR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(txt)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B93E09F-1FC3-4E41-8988-AF29AF714BFA}"/>
              </a:ext>
            </a:extLst>
          </p:cNvPr>
          <p:cNvSpPr/>
          <p:nvPr/>
        </p:nvSpPr>
        <p:spPr>
          <a:xfrm>
            <a:off x="7939451" y="679003"/>
            <a:ext cx="1913505" cy="82448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 탐색</a:t>
            </a:r>
            <a:endParaRPr lang="en-US" altLang="ko-KR" sz="2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0C95CE5-BFB9-4679-80F5-E99075F23323}"/>
              </a:ext>
            </a:extLst>
          </p:cNvPr>
          <p:cNvSpPr/>
          <p:nvPr/>
        </p:nvSpPr>
        <p:spPr>
          <a:xfrm>
            <a:off x="7939451" y="2230316"/>
            <a:ext cx="1913505" cy="82448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 가공</a:t>
            </a:r>
            <a:endParaRPr lang="en-US" altLang="ko-KR" sz="2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316CA74-4A79-4252-BC98-F1EBCD3FD293}"/>
              </a:ext>
            </a:extLst>
          </p:cNvPr>
          <p:cNvSpPr/>
          <p:nvPr/>
        </p:nvSpPr>
        <p:spPr>
          <a:xfrm>
            <a:off x="7939451" y="3781629"/>
            <a:ext cx="1913505" cy="82448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 </a:t>
            </a:r>
            <a:r>
              <a:rPr lang="ko-KR" altLang="en-US" sz="2000" dirty="0" err="1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전처리</a:t>
            </a:r>
            <a:endParaRPr lang="en-US" altLang="ko-KR" sz="2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F572E21-FA04-4334-8BB5-7A58C3A51A69}"/>
              </a:ext>
            </a:extLst>
          </p:cNvPr>
          <p:cNvSpPr/>
          <p:nvPr/>
        </p:nvSpPr>
        <p:spPr>
          <a:xfrm>
            <a:off x="6603475" y="5332942"/>
            <a:ext cx="1913505" cy="82448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피지컬 </a:t>
            </a:r>
            <a:r>
              <a:rPr lang="ko-KR" altLang="en-US" sz="2000" dirty="0" err="1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티어</a:t>
            </a:r>
            <a:endParaRPr lang="en-US" altLang="ko-KR" sz="2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예측 모델링</a:t>
            </a:r>
            <a:endParaRPr lang="en-US" altLang="ko-KR" sz="2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524092F-F082-4AED-B5DC-1F358A83F2A0}"/>
              </a:ext>
            </a:extLst>
          </p:cNvPr>
          <p:cNvSpPr/>
          <p:nvPr/>
        </p:nvSpPr>
        <p:spPr>
          <a:xfrm>
            <a:off x="9200887" y="5332942"/>
            <a:ext cx="1913505" cy="82448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피지컬 그룹</a:t>
            </a:r>
            <a:endParaRPr lang="en-US" altLang="ko-KR" sz="2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예측 모델링</a:t>
            </a:r>
            <a:endParaRPr lang="en-US" altLang="ko-KR" sz="2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9" name="L 도형 28">
            <a:extLst>
              <a:ext uri="{FF2B5EF4-FFF2-40B4-BE49-F238E27FC236}">
                <a16:creationId xmlns:a16="http://schemas.microsoft.com/office/drawing/2014/main" id="{AC02C7BE-C9AA-42B5-A3C1-2C1E43B6F9B8}"/>
              </a:ext>
            </a:extLst>
          </p:cNvPr>
          <p:cNvSpPr/>
          <p:nvPr/>
        </p:nvSpPr>
        <p:spPr>
          <a:xfrm rot="18864526">
            <a:off x="8739199" y="1629368"/>
            <a:ext cx="311650" cy="311650"/>
          </a:xfrm>
          <a:prstGeom prst="corner">
            <a:avLst>
              <a:gd name="adj1" fmla="val 21769"/>
              <a:gd name="adj2" fmla="val 19985"/>
            </a:avLst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L 도형 30">
            <a:extLst>
              <a:ext uri="{FF2B5EF4-FFF2-40B4-BE49-F238E27FC236}">
                <a16:creationId xmlns:a16="http://schemas.microsoft.com/office/drawing/2014/main" id="{5744CA4D-F214-436E-BA85-18BAB9DA37BC}"/>
              </a:ext>
            </a:extLst>
          </p:cNvPr>
          <p:cNvSpPr/>
          <p:nvPr/>
        </p:nvSpPr>
        <p:spPr>
          <a:xfrm rot="18864526">
            <a:off x="8739199" y="3182329"/>
            <a:ext cx="311650" cy="311650"/>
          </a:xfrm>
          <a:prstGeom prst="corner">
            <a:avLst>
              <a:gd name="adj1" fmla="val 21769"/>
              <a:gd name="adj2" fmla="val 21425"/>
            </a:avLst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720E344C-EB64-4FFF-9E17-B789DAA6B4E2}"/>
              </a:ext>
            </a:extLst>
          </p:cNvPr>
          <p:cNvCxnSpPr>
            <a:stCxn id="17" idx="2"/>
            <a:endCxn id="23" idx="0"/>
          </p:cNvCxnSpPr>
          <p:nvPr/>
        </p:nvCxnSpPr>
        <p:spPr>
          <a:xfrm flipH="1">
            <a:off x="7560228" y="4606110"/>
            <a:ext cx="1335976" cy="726832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C764A755-6EB2-428D-BFF7-814BE2B9E668}"/>
              </a:ext>
            </a:extLst>
          </p:cNvPr>
          <p:cNvCxnSpPr>
            <a:cxnSpLocks/>
            <a:stCxn id="17" idx="2"/>
            <a:endCxn id="27" idx="0"/>
          </p:cNvCxnSpPr>
          <p:nvPr/>
        </p:nvCxnSpPr>
        <p:spPr>
          <a:xfrm>
            <a:off x="8896204" y="4606110"/>
            <a:ext cx="1261436" cy="726832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37E8117A-328E-4A51-999D-66E2F3EF67C7}"/>
              </a:ext>
            </a:extLst>
          </p:cNvPr>
          <p:cNvSpPr/>
          <p:nvPr/>
        </p:nvSpPr>
        <p:spPr>
          <a:xfrm>
            <a:off x="7377579" y="474827"/>
            <a:ext cx="1011116" cy="30773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by</a:t>
            </a:r>
            <a:r>
              <a:rPr lang="ko-KR" altLang="en-US" sz="1000" dirty="0">
                <a:solidFill>
                  <a:schemeClr val="bg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1000" dirty="0">
                <a:solidFill>
                  <a:schemeClr val="bg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Pandas</a:t>
            </a:r>
            <a:endParaRPr lang="ko-KR" altLang="en-US" sz="1000" dirty="0">
              <a:solidFill>
                <a:schemeClr val="bg1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0E816EB0-B9BF-4FFA-99F3-63A2769DDCA8}"/>
              </a:ext>
            </a:extLst>
          </p:cNvPr>
          <p:cNvSpPr/>
          <p:nvPr/>
        </p:nvSpPr>
        <p:spPr>
          <a:xfrm>
            <a:off x="6165758" y="5091149"/>
            <a:ext cx="1011116" cy="30773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by</a:t>
            </a:r>
            <a:r>
              <a:rPr lang="ko-KR" altLang="en-US" sz="1000" dirty="0">
                <a:solidFill>
                  <a:schemeClr val="bg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1000" dirty="0">
                <a:solidFill>
                  <a:schemeClr val="bg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Stacking</a:t>
            </a:r>
            <a:endParaRPr lang="ko-KR" altLang="en-US" sz="1000" dirty="0">
              <a:solidFill>
                <a:schemeClr val="bg1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D0236395-772F-4039-8A45-C2EA748F453F}"/>
              </a:ext>
            </a:extLst>
          </p:cNvPr>
          <p:cNvSpPr/>
          <p:nvPr/>
        </p:nvSpPr>
        <p:spPr>
          <a:xfrm>
            <a:off x="8700336" y="5091150"/>
            <a:ext cx="1011116" cy="30773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by</a:t>
            </a:r>
            <a:r>
              <a:rPr lang="ko-KR" altLang="en-US" sz="1000" dirty="0">
                <a:solidFill>
                  <a:schemeClr val="bg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1000" dirty="0">
                <a:solidFill>
                  <a:schemeClr val="bg1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K-Means</a:t>
            </a:r>
            <a:endParaRPr lang="ko-KR" altLang="en-US" sz="1000" dirty="0">
              <a:solidFill>
                <a:schemeClr val="bg1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4014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Many charts and graphs. Reflection light and flare.　Concept image of data gathering and statistical working.&#10;                        ">
            <a:extLst>
              <a:ext uri="{FF2B5EF4-FFF2-40B4-BE49-F238E27FC236}">
                <a16:creationId xmlns:a16="http://schemas.microsoft.com/office/drawing/2014/main" id="{FADCE2AA-10C6-4BAE-849A-1FC6944D1A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23" b="5167"/>
          <a:stretch/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8DDCB2D-BC76-4CD1-9C03-A70821646CBD}"/>
              </a:ext>
            </a:extLst>
          </p:cNvPr>
          <p:cNvSpPr/>
          <p:nvPr/>
        </p:nvSpPr>
        <p:spPr>
          <a:xfrm>
            <a:off x="105508" y="96715"/>
            <a:ext cx="11966329" cy="6673361"/>
          </a:xfrm>
          <a:prstGeom prst="rect">
            <a:avLst/>
          </a:prstGeom>
          <a:noFill/>
          <a:ln w="12700">
            <a:solidFill>
              <a:srgbClr val="F4F4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4043EE-4C4C-47C6-92AA-B9786DFB6CD2}"/>
              </a:ext>
            </a:extLst>
          </p:cNvPr>
          <p:cNvSpPr>
            <a:spLocks noChangeAspect="1"/>
          </p:cNvSpPr>
          <p:nvPr/>
        </p:nvSpPr>
        <p:spPr>
          <a:xfrm>
            <a:off x="112629" y="63000"/>
            <a:ext cx="11968000" cy="67320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AAA434-8536-4D7C-857C-14AAFF31EE54}"/>
              </a:ext>
            </a:extLst>
          </p:cNvPr>
          <p:cNvSpPr/>
          <p:nvPr/>
        </p:nvSpPr>
        <p:spPr>
          <a:xfrm>
            <a:off x="368300" y="253953"/>
            <a:ext cx="11430000" cy="631194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D63F1A9-3E3A-42DF-8EB1-539560CD0C50}"/>
              </a:ext>
            </a:extLst>
          </p:cNvPr>
          <p:cNvSpPr/>
          <p:nvPr/>
        </p:nvSpPr>
        <p:spPr>
          <a:xfrm>
            <a:off x="501159" y="380064"/>
            <a:ext cx="1913505" cy="82448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 탐색</a:t>
            </a:r>
            <a:endParaRPr lang="en-US" altLang="ko-KR" sz="2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en-US" altLang="ko-KR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데이터셋 구성</a:t>
            </a:r>
            <a:r>
              <a:rPr lang="en-US" altLang="ko-KR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DAE84E-6547-448E-A1B2-B503B3817D01}"/>
              </a:ext>
            </a:extLst>
          </p:cNvPr>
          <p:cNvSpPr txBox="1"/>
          <p:nvPr/>
        </p:nvSpPr>
        <p:spPr>
          <a:xfrm>
            <a:off x="2572919" y="3067482"/>
            <a:ext cx="701845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data01 =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pd.read_csv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'/content/KS_NFA_FTNESS_MESURE_MVN_PRSCRPTN_GNRLZ_INFO_202310.csv'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data02 =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pd.read_csv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'/content/KS_NFA_FTNESS_MESURE_MVN_PRSCRPTN_GNRLZ_INFO_202309.csv'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data03 =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pd.read_csv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'/content/KS_NFA_FTNESS_MESURE_MVN_PRSCRPTN_GNRLZ_INFO_202308.csv’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it-IT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 = pd.concat</a:t>
            </a:r>
            <a:r>
              <a:rPr lang="it-IT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([</a:t>
            </a:r>
            <a:r>
              <a:rPr lang="it-IT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data01</a:t>
            </a:r>
            <a:r>
              <a:rPr lang="it-IT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it-IT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data02</a:t>
            </a:r>
            <a:r>
              <a:rPr lang="it-IT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it-IT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data03</a:t>
            </a:r>
            <a:r>
              <a:rPr lang="it-IT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],</a:t>
            </a:r>
            <a:r>
              <a:rPr lang="it-IT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axis=</a:t>
            </a:r>
            <a:r>
              <a:rPr lang="it-IT" altLang="ko-KR" sz="1000" b="0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it-IT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it-IT" altLang="ko-KR" sz="1000" dirty="0">
                <a:solidFill>
                  <a:srgbClr val="DCDCDC"/>
                </a:solidFill>
                <a:latin typeface="Courier New" panose="02070309020205020404" pitchFamily="49" charset="0"/>
              </a:rPr>
              <a:t>data.shape</a:t>
            </a:r>
            <a:endParaRPr lang="it-IT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1BF2C7-7CBC-4CD9-AD2C-BCD58340DE9D}"/>
              </a:ext>
            </a:extLst>
          </p:cNvPr>
          <p:cNvSpPr txBox="1"/>
          <p:nvPr/>
        </p:nvSpPr>
        <p:spPr>
          <a:xfrm>
            <a:off x="3856473" y="3991352"/>
            <a:ext cx="445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개월 데이터 사용 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: 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데이터셋 병합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3335767-9A41-443A-AE86-0B929B3DC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771" y="5006464"/>
            <a:ext cx="2104753" cy="62034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623D73C-D2C0-41EB-8BE3-22DFF181C82F}"/>
              </a:ext>
            </a:extLst>
          </p:cNvPr>
          <p:cNvSpPr txBox="1"/>
          <p:nvPr/>
        </p:nvSpPr>
        <p:spPr>
          <a:xfrm>
            <a:off x="3856473" y="5658311"/>
            <a:ext cx="445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총 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56,431 cases 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확인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8178B49-BD32-49DE-9E9C-6A6351B734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1819" y="1004328"/>
            <a:ext cx="5868361" cy="123092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ABE886B-9D9B-49CF-B13E-9088DFC8F81A}"/>
              </a:ext>
            </a:extLst>
          </p:cNvPr>
          <p:cNvSpPr txBox="1"/>
          <p:nvPr/>
        </p:nvSpPr>
        <p:spPr>
          <a:xfrm>
            <a:off x="3856473" y="2336291"/>
            <a:ext cx="445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사용한 데이터셋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3093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Many charts and graphs. Reflection light and flare.　Concept image of data gathering and statistical working.&#10;                        ">
            <a:extLst>
              <a:ext uri="{FF2B5EF4-FFF2-40B4-BE49-F238E27FC236}">
                <a16:creationId xmlns:a16="http://schemas.microsoft.com/office/drawing/2014/main" id="{FADCE2AA-10C6-4BAE-849A-1FC6944D1A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23" b="5167"/>
          <a:stretch/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8DDCB2D-BC76-4CD1-9C03-A70821646CBD}"/>
              </a:ext>
            </a:extLst>
          </p:cNvPr>
          <p:cNvSpPr/>
          <p:nvPr/>
        </p:nvSpPr>
        <p:spPr>
          <a:xfrm>
            <a:off x="105508" y="96715"/>
            <a:ext cx="11966329" cy="6673361"/>
          </a:xfrm>
          <a:prstGeom prst="rect">
            <a:avLst/>
          </a:prstGeom>
          <a:noFill/>
          <a:ln w="12700">
            <a:solidFill>
              <a:srgbClr val="F4F4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4043EE-4C4C-47C6-92AA-B9786DFB6CD2}"/>
              </a:ext>
            </a:extLst>
          </p:cNvPr>
          <p:cNvSpPr>
            <a:spLocks noChangeAspect="1"/>
          </p:cNvSpPr>
          <p:nvPr/>
        </p:nvSpPr>
        <p:spPr>
          <a:xfrm>
            <a:off x="112629" y="63000"/>
            <a:ext cx="11968000" cy="67320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AAA434-8536-4D7C-857C-14AAFF31EE54}"/>
              </a:ext>
            </a:extLst>
          </p:cNvPr>
          <p:cNvSpPr/>
          <p:nvPr/>
        </p:nvSpPr>
        <p:spPr>
          <a:xfrm>
            <a:off x="368300" y="253953"/>
            <a:ext cx="11430000" cy="631194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D63F1A9-3E3A-42DF-8EB1-539560CD0C50}"/>
              </a:ext>
            </a:extLst>
          </p:cNvPr>
          <p:cNvSpPr/>
          <p:nvPr/>
        </p:nvSpPr>
        <p:spPr>
          <a:xfrm>
            <a:off x="501159" y="380064"/>
            <a:ext cx="1913505" cy="82448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 탐색</a:t>
            </a:r>
            <a:endParaRPr lang="en-US" altLang="ko-KR" sz="2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en-US" altLang="ko-KR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2000" dirty="0" err="1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결측치</a:t>
            </a:r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확인</a:t>
            </a:r>
            <a:r>
              <a:rPr lang="en-US" altLang="ko-KR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5704D9-8C50-4FAD-A1D7-0D9272D41BC9}"/>
              </a:ext>
            </a:extLst>
          </p:cNvPr>
          <p:cNvSpPr txBox="1"/>
          <p:nvPr/>
        </p:nvSpPr>
        <p:spPr>
          <a:xfrm>
            <a:off x="1134204" y="1546417"/>
            <a:ext cx="4545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temp00 =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np.array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data.isna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()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US" altLang="ko-KR" sz="1000" b="0" dirty="0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sum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()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/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data.shape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])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temp00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C53783-1443-47CD-B29F-47F27C22A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204" y="2009526"/>
            <a:ext cx="4046708" cy="190304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4E492EF-6C5B-454D-A77C-7463BC411FB3}"/>
              </a:ext>
            </a:extLst>
          </p:cNvPr>
          <p:cNvSpPr txBox="1"/>
          <p:nvPr/>
        </p:nvSpPr>
        <p:spPr>
          <a:xfrm>
            <a:off x="1340785" y="4009286"/>
            <a:ext cx="3609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결측치가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80% 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이상인 열들 다수 존재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F483B5-6294-48E5-8FBE-58615BB93CB5}"/>
              </a:ext>
            </a:extLst>
          </p:cNvPr>
          <p:cNvSpPr txBox="1"/>
          <p:nvPr/>
        </p:nvSpPr>
        <p:spPr>
          <a:xfrm>
            <a:off x="1340785" y="4859197"/>
            <a:ext cx="3609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PAPS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지표 중심 서비스 예정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1" name="더하기 기호 10">
            <a:extLst>
              <a:ext uri="{FF2B5EF4-FFF2-40B4-BE49-F238E27FC236}">
                <a16:creationId xmlns:a16="http://schemas.microsoft.com/office/drawing/2014/main" id="{D0FE3ACD-42A2-4EE2-A771-0FC4283A8C38}"/>
              </a:ext>
            </a:extLst>
          </p:cNvPr>
          <p:cNvSpPr/>
          <p:nvPr/>
        </p:nvSpPr>
        <p:spPr>
          <a:xfrm>
            <a:off x="2986880" y="4403541"/>
            <a:ext cx="341355" cy="341355"/>
          </a:xfrm>
          <a:prstGeom prst="mathPlus">
            <a:avLst>
              <a:gd name="adj1" fmla="val 1321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A8BD6C-B865-4E95-B4E0-789DC547D490}"/>
              </a:ext>
            </a:extLst>
          </p:cNvPr>
          <p:cNvSpPr txBox="1"/>
          <p:nvPr/>
        </p:nvSpPr>
        <p:spPr>
          <a:xfrm>
            <a:off x="1352913" y="5558656"/>
            <a:ext cx="360928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500" dirty="0" err="1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결측치</a:t>
            </a:r>
            <a:r>
              <a:rPr lang="ko-KR" altLang="en-US" sz="2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제거 필요</a:t>
            </a:r>
            <a:endParaRPr lang="en-US" altLang="ko-KR" sz="2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1EFBD3B-3D6D-4EC3-A79D-42044850D518}"/>
              </a:ext>
            </a:extLst>
          </p:cNvPr>
          <p:cNvSpPr/>
          <p:nvPr/>
        </p:nvSpPr>
        <p:spPr>
          <a:xfrm>
            <a:off x="6224951" y="380064"/>
            <a:ext cx="1913505" cy="82448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 탐색</a:t>
            </a:r>
            <a:endParaRPr lang="en-US" altLang="ko-KR" sz="2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en-US" altLang="ko-KR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제거 컬럼 확인</a:t>
            </a:r>
            <a:r>
              <a:rPr lang="en-US" altLang="ko-KR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FD6F7E-EB2A-4A8E-92A9-02443E2AB245}"/>
              </a:ext>
            </a:extLst>
          </p:cNvPr>
          <p:cNvSpPr txBox="1"/>
          <p:nvPr/>
        </p:nvSpPr>
        <p:spPr>
          <a:xfrm>
            <a:off x="6594227" y="1546417"/>
            <a:ext cx="454562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불필요한 데이터 탐색 </a:t>
            </a:r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1 : </a:t>
            </a:r>
            <a:r>
              <a:rPr lang="ko-KR" altLang="en-US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측정 지역</a:t>
            </a:r>
            <a:endParaRPr lang="ko-KR" altLang="en-US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 err="1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len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data_droped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'CNTER_NM'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value_counts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())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81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246410-1CFB-4E96-9641-E26A8E34DA60}"/>
              </a:ext>
            </a:extLst>
          </p:cNvPr>
          <p:cNvSpPr txBox="1"/>
          <p:nvPr/>
        </p:nvSpPr>
        <p:spPr>
          <a:xfrm>
            <a:off x="6594227" y="2092509"/>
            <a:ext cx="3609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범주값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81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개 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– 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불필요하므로 제거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D2E489-607F-4410-B076-4D7540755047}"/>
              </a:ext>
            </a:extLst>
          </p:cNvPr>
          <p:cNvSpPr txBox="1"/>
          <p:nvPr/>
        </p:nvSpPr>
        <p:spPr>
          <a:xfrm>
            <a:off x="6594228" y="2675788"/>
            <a:ext cx="411919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불필요한 데이터 탐색 </a:t>
            </a:r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2 : </a:t>
            </a:r>
            <a:r>
              <a:rPr lang="ko-KR" altLang="en-US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입력 방법</a:t>
            </a:r>
            <a:endParaRPr lang="ko-KR" altLang="en-US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data_droped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'INPT_FLAG_NM'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value_counts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r>
              <a:rPr lang="ko-KR" altLang="en-US" sz="1000" dirty="0">
                <a:solidFill>
                  <a:srgbClr val="DCDCDC"/>
                </a:solidFill>
                <a:latin typeface="Courier New" panose="02070309020205020404" pitchFamily="49" charset="0"/>
              </a:rPr>
              <a:t>관리자 </a:t>
            </a:r>
            <a:r>
              <a:rPr lang="en-US" altLang="ko-KR" sz="1000" dirty="0">
                <a:solidFill>
                  <a:srgbClr val="DCDCDC"/>
                </a:solidFill>
                <a:latin typeface="Courier New" panose="02070309020205020404" pitchFamily="49" charset="0"/>
              </a:rPr>
              <a:t>: 56,425 / </a:t>
            </a:r>
            <a:r>
              <a:rPr lang="ko-KR" altLang="en-US" sz="1000" dirty="0" err="1">
                <a:solidFill>
                  <a:srgbClr val="DCDCDC"/>
                </a:solidFill>
                <a:latin typeface="Courier New" panose="02070309020205020404" pitchFamily="49" charset="0"/>
              </a:rPr>
              <a:t>인바디</a:t>
            </a:r>
            <a:r>
              <a:rPr lang="ko-KR" altLang="en-US" sz="1000" dirty="0">
                <a:solidFill>
                  <a:srgbClr val="DCDCDC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sz="1000" dirty="0">
                <a:solidFill>
                  <a:srgbClr val="DCDCDC"/>
                </a:solidFill>
                <a:latin typeface="Courier New" panose="02070309020205020404" pitchFamily="49" charset="0"/>
              </a:rPr>
              <a:t>: 6 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FB50A0-396D-4148-88AD-46607C5D8E85}"/>
              </a:ext>
            </a:extLst>
          </p:cNvPr>
          <p:cNvSpPr txBox="1"/>
          <p:nvPr/>
        </p:nvSpPr>
        <p:spPr>
          <a:xfrm>
            <a:off x="6594227" y="3208213"/>
            <a:ext cx="4273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극심한 불균형 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+ 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중요도가 떨어지므로 제거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76F103-C843-4919-812A-93BB4A27D2C3}"/>
              </a:ext>
            </a:extLst>
          </p:cNvPr>
          <p:cNvSpPr txBox="1"/>
          <p:nvPr/>
        </p:nvSpPr>
        <p:spPr>
          <a:xfrm>
            <a:off x="6594227" y="4676049"/>
            <a:ext cx="4273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이외의 불필요한 컬럼 제거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AFC52C-C9B7-4E25-A687-615E9615E10C}"/>
              </a:ext>
            </a:extLst>
          </p:cNvPr>
          <p:cNvSpPr txBox="1"/>
          <p:nvPr/>
        </p:nvSpPr>
        <p:spPr>
          <a:xfrm>
            <a:off x="6594227" y="5107154"/>
            <a:ext cx="4273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회원번호</a:t>
            </a:r>
            <a:r>
              <a:rPr lang="en-US" altLang="ko-KR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측정장소구분명</a:t>
            </a:r>
            <a:r>
              <a:rPr lang="en-US" altLang="ko-KR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측정일자</a:t>
            </a:r>
            <a:r>
              <a:rPr lang="en-US" altLang="ko-KR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처방내용</a:t>
            </a:r>
            <a:endParaRPr lang="en-US" altLang="ko-KR" sz="12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8518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Many charts and graphs. Reflection light and flare.　Concept image of data gathering and statistical working.&#10;                        ">
            <a:extLst>
              <a:ext uri="{FF2B5EF4-FFF2-40B4-BE49-F238E27FC236}">
                <a16:creationId xmlns:a16="http://schemas.microsoft.com/office/drawing/2014/main" id="{FADCE2AA-10C6-4BAE-849A-1FC6944D1A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23" b="5167"/>
          <a:stretch/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8DDCB2D-BC76-4CD1-9C03-A70821646CBD}"/>
              </a:ext>
            </a:extLst>
          </p:cNvPr>
          <p:cNvSpPr/>
          <p:nvPr/>
        </p:nvSpPr>
        <p:spPr>
          <a:xfrm>
            <a:off x="105508" y="96715"/>
            <a:ext cx="11966329" cy="6673361"/>
          </a:xfrm>
          <a:prstGeom prst="rect">
            <a:avLst/>
          </a:prstGeom>
          <a:noFill/>
          <a:ln w="12700">
            <a:solidFill>
              <a:srgbClr val="F4F4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4043EE-4C4C-47C6-92AA-B9786DFB6CD2}"/>
              </a:ext>
            </a:extLst>
          </p:cNvPr>
          <p:cNvSpPr>
            <a:spLocks noChangeAspect="1"/>
          </p:cNvSpPr>
          <p:nvPr/>
        </p:nvSpPr>
        <p:spPr>
          <a:xfrm>
            <a:off x="112629" y="63000"/>
            <a:ext cx="11968000" cy="67320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AAA434-8536-4D7C-857C-14AAFF31EE54}"/>
              </a:ext>
            </a:extLst>
          </p:cNvPr>
          <p:cNvSpPr/>
          <p:nvPr/>
        </p:nvSpPr>
        <p:spPr>
          <a:xfrm>
            <a:off x="368300" y="253953"/>
            <a:ext cx="11430000" cy="631194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D63F1A9-3E3A-42DF-8EB1-539560CD0C50}"/>
              </a:ext>
            </a:extLst>
          </p:cNvPr>
          <p:cNvSpPr/>
          <p:nvPr/>
        </p:nvSpPr>
        <p:spPr>
          <a:xfrm>
            <a:off x="501159" y="380064"/>
            <a:ext cx="1913505" cy="82448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 탐색</a:t>
            </a:r>
            <a:endParaRPr lang="en-US" altLang="ko-KR" sz="2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en-US" altLang="ko-KR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성별</a:t>
            </a:r>
            <a:r>
              <a:rPr lang="en-US" altLang="ko-KR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1BF2C7-7CBC-4CD9-AD2C-BCD58340DE9D}"/>
              </a:ext>
            </a:extLst>
          </p:cNvPr>
          <p:cNvSpPr txBox="1"/>
          <p:nvPr/>
        </p:nvSpPr>
        <p:spPr>
          <a:xfrm>
            <a:off x="6765519" y="5272122"/>
            <a:ext cx="445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최저연령 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/ 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최대연령 </a:t>
            </a:r>
            <a:r>
              <a:rPr lang="ko-KR" altLang="en-US" dirty="0" err="1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측정자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11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세 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/ 97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세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23D73C-D2C0-41EB-8BE3-22DFF181C82F}"/>
              </a:ext>
            </a:extLst>
          </p:cNvPr>
          <p:cNvSpPr txBox="1"/>
          <p:nvPr/>
        </p:nvSpPr>
        <p:spPr>
          <a:xfrm>
            <a:off x="939801" y="5272122"/>
            <a:ext cx="445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남성비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약간 높으나 큰 특이사항 없음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BE886B-9D9B-49CF-B13E-9088DFC8F81A}"/>
              </a:ext>
            </a:extLst>
          </p:cNvPr>
          <p:cNvSpPr txBox="1"/>
          <p:nvPr/>
        </p:nvSpPr>
        <p:spPr>
          <a:xfrm>
            <a:off x="948593" y="4900447"/>
            <a:ext cx="445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남 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6.68 : 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여 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4.32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C4678EB-7AA6-4F2C-8E11-E48165738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720" y="1641433"/>
            <a:ext cx="4801096" cy="316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2A352A0D-D937-4203-BBEC-7D42420AA919}"/>
              </a:ext>
            </a:extLst>
          </p:cNvPr>
          <p:cNvSpPr/>
          <p:nvPr/>
        </p:nvSpPr>
        <p:spPr>
          <a:xfrm>
            <a:off x="6224952" y="380064"/>
            <a:ext cx="1913505" cy="82448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 탐색</a:t>
            </a:r>
            <a:endParaRPr lang="en-US" altLang="ko-KR" sz="2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en-US" altLang="ko-KR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연령</a:t>
            </a:r>
            <a:r>
              <a:rPr lang="en-US" altLang="ko-KR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8CD385A-0E24-4FB5-8A32-15EF6D04F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7258" y="1342494"/>
            <a:ext cx="4801096" cy="316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F694D8C-9AF2-4675-869A-47CCADF672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258" y="4585602"/>
            <a:ext cx="4787873" cy="56491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4615EC4-ACD9-4797-89E1-3B8D069C7E61}"/>
              </a:ext>
            </a:extLst>
          </p:cNvPr>
          <p:cNvSpPr txBox="1"/>
          <p:nvPr/>
        </p:nvSpPr>
        <p:spPr>
          <a:xfrm>
            <a:off x="6765519" y="5614026"/>
            <a:ext cx="445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중앙값 </a:t>
            </a:r>
            <a:r>
              <a:rPr lang="en-US" altLang="ko-KR" b="1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28</a:t>
            </a:r>
            <a:r>
              <a:rPr lang="ko-KR" altLang="en-US" b="1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평균값 </a:t>
            </a:r>
            <a:r>
              <a:rPr lang="en-US" altLang="ko-KR" b="1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36</a:t>
            </a:r>
            <a:r>
              <a:rPr lang="ko-KR" altLang="en-US" b="1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로 </a:t>
            </a:r>
            <a:r>
              <a:rPr lang="ko-KR" altLang="en-US" b="1" u="sng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청년 위주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의 자료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3720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Many charts and graphs. Reflection light and flare.　Concept image of data gathering and statistical working.&#10;                        ">
            <a:extLst>
              <a:ext uri="{FF2B5EF4-FFF2-40B4-BE49-F238E27FC236}">
                <a16:creationId xmlns:a16="http://schemas.microsoft.com/office/drawing/2014/main" id="{FADCE2AA-10C6-4BAE-849A-1FC6944D1A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23" b="5167"/>
          <a:stretch/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8DDCB2D-BC76-4CD1-9C03-A70821646CBD}"/>
              </a:ext>
            </a:extLst>
          </p:cNvPr>
          <p:cNvSpPr/>
          <p:nvPr/>
        </p:nvSpPr>
        <p:spPr>
          <a:xfrm>
            <a:off x="105508" y="96715"/>
            <a:ext cx="11966329" cy="6673361"/>
          </a:xfrm>
          <a:prstGeom prst="rect">
            <a:avLst/>
          </a:prstGeom>
          <a:noFill/>
          <a:ln w="12700">
            <a:solidFill>
              <a:srgbClr val="F4F4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4043EE-4C4C-47C6-92AA-B9786DFB6CD2}"/>
              </a:ext>
            </a:extLst>
          </p:cNvPr>
          <p:cNvSpPr>
            <a:spLocks noChangeAspect="1"/>
          </p:cNvSpPr>
          <p:nvPr/>
        </p:nvSpPr>
        <p:spPr>
          <a:xfrm>
            <a:off x="112629" y="63000"/>
            <a:ext cx="11968000" cy="67320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AAA434-8536-4D7C-857C-14AAFF31EE54}"/>
              </a:ext>
            </a:extLst>
          </p:cNvPr>
          <p:cNvSpPr/>
          <p:nvPr/>
        </p:nvSpPr>
        <p:spPr>
          <a:xfrm>
            <a:off x="368300" y="253953"/>
            <a:ext cx="11430000" cy="631194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D63F1A9-3E3A-42DF-8EB1-539560CD0C50}"/>
              </a:ext>
            </a:extLst>
          </p:cNvPr>
          <p:cNvSpPr/>
          <p:nvPr/>
        </p:nvSpPr>
        <p:spPr>
          <a:xfrm>
            <a:off x="501159" y="380064"/>
            <a:ext cx="1913505" cy="82448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 탐색</a:t>
            </a:r>
            <a:endParaRPr lang="en-US" altLang="ko-KR" sz="2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en-US" altLang="ko-KR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키</a:t>
            </a:r>
            <a:r>
              <a:rPr lang="en-US" altLang="ko-KR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몸무게</a:t>
            </a:r>
            <a:r>
              <a:rPr lang="en-US" altLang="ko-KR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1BF2C7-7CBC-4CD9-AD2C-BCD58340DE9D}"/>
              </a:ext>
            </a:extLst>
          </p:cNvPr>
          <p:cNvSpPr txBox="1"/>
          <p:nvPr/>
        </p:nvSpPr>
        <p:spPr>
          <a:xfrm>
            <a:off x="6765519" y="4878216"/>
            <a:ext cx="445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분포로부터 유리된 집단 확인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23D73C-D2C0-41EB-8BE3-22DFF181C82F}"/>
              </a:ext>
            </a:extLst>
          </p:cNvPr>
          <p:cNvSpPr txBox="1"/>
          <p:nvPr/>
        </p:nvSpPr>
        <p:spPr>
          <a:xfrm>
            <a:off x="501159" y="4166038"/>
            <a:ext cx="5430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최저연령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(11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감안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측정오류나 </a:t>
            </a:r>
            <a:r>
              <a:rPr lang="ko-KR" altLang="en-US" dirty="0" err="1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오기입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데이터로 판단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BE886B-9D9B-49CF-B13E-9088DFC8F81A}"/>
              </a:ext>
            </a:extLst>
          </p:cNvPr>
          <p:cNvSpPr txBox="1"/>
          <p:nvPr/>
        </p:nvSpPr>
        <p:spPr>
          <a:xfrm>
            <a:off x="992658" y="3775120"/>
            <a:ext cx="445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키 최솟값 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92cm, 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몸무게 최솟값 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11.5kg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615EC4-ACD9-4797-89E1-3B8D069C7E61}"/>
              </a:ext>
            </a:extLst>
          </p:cNvPr>
          <p:cNvSpPr txBox="1"/>
          <p:nvPr/>
        </p:nvSpPr>
        <p:spPr>
          <a:xfrm>
            <a:off x="6733930" y="5230582"/>
            <a:ext cx="445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 err="1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과소측정된</a:t>
            </a:r>
            <a:r>
              <a:rPr lang="ko-KR" altLang="en-US" b="1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이상치로 판단</a:t>
            </a:r>
            <a:r>
              <a:rPr lang="en-US" altLang="ko-KR" b="1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b="1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처리 필요</a:t>
            </a:r>
            <a:endParaRPr lang="en-US" altLang="ko-KR" b="1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1591FF4-71F0-4FF9-AD2A-741E4812C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725" y="2298194"/>
            <a:ext cx="5017559" cy="55081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7AD03B7-F98D-4258-8B07-956A1FE4C0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382" y="3014604"/>
            <a:ext cx="5029902" cy="609685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AF160279-4AC9-410A-BB1C-C84A3A3E6B2D}"/>
              </a:ext>
            </a:extLst>
          </p:cNvPr>
          <p:cNvSpPr/>
          <p:nvPr/>
        </p:nvSpPr>
        <p:spPr>
          <a:xfrm>
            <a:off x="3500196" y="2298194"/>
            <a:ext cx="429965" cy="1326095"/>
          </a:xfrm>
          <a:prstGeom prst="rect">
            <a:avLst/>
          </a:prstGeom>
          <a:noFill/>
          <a:ln w="28575">
            <a:solidFill>
              <a:srgbClr val="FF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510CB36-5A43-46D8-A612-DDBBBAF72B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2794" y="1264259"/>
            <a:ext cx="5493622" cy="176369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A65D10C-AF3C-4571-88E6-4DE278F7C4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2794" y="3027957"/>
            <a:ext cx="5493622" cy="1719378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60A98CB0-F2B8-4799-911C-5A449CB9E8CF}"/>
              </a:ext>
            </a:extLst>
          </p:cNvPr>
          <p:cNvSpPr/>
          <p:nvPr/>
        </p:nvSpPr>
        <p:spPr>
          <a:xfrm>
            <a:off x="7297615" y="2303586"/>
            <a:ext cx="1406770" cy="263769"/>
          </a:xfrm>
          <a:prstGeom prst="rect">
            <a:avLst/>
          </a:prstGeom>
          <a:noFill/>
          <a:ln w="28575">
            <a:solidFill>
              <a:srgbClr val="FF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BC07A7D-CDBB-46AB-A0C2-7D0C7995F712}"/>
              </a:ext>
            </a:extLst>
          </p:cNvPr>
          <p:cNvSpPr/>
          <p:nvPr/>
        </p:nvSpPr>
        <p:spPr>
          <a:xfrm>
            <a:off x="7192108" y="3886202"/>
            <a:ext cx="501161" cy="404446"/>
          </a:xfrm>
          <a:prstGeom prst="rect">
            <a:avLst/>
          </a:prstGeom>
          <a:noFill/>
          <a:ln w="28575">
            <a:solidFill>
              <a:srgbClr val="FF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31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Many charts and graphs. Reflection light and flare.　Concept image of data gathering and statistical working.&#10;                        ">
            <a:extLst>
              <a:ext uri="{FF2B5EF4-FFF2-40B4-BE49-F238E27FC236}">
                <a16:creationId xmlns:a16="http://schemas.microsoft.com/office/drawing/2014/main" id="{FADCE2AA-10C6-4BAE-849A-1FC6944D1A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23" b="5167"/>
          <a:stretch/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8DDCB2D-BC76-4CD1-9C03-A70821646CBD}"/>
              </a:ext>
            </a:extLst>
          </p:cNvPr>
          <p:cNvSpPr/>
          <p:nvPr/>
        </p:nvSpPr>
        <p:spPr>
          <a:xfrm>
            <a:off x="105508" y="96715"/>
            <a:ext cx="11966329" cy="6673361"/>
          </a:xfrm>
          <a:prstGeom prst="rect">
            <a:avLst/>
          </a:prstGeom>
          <a:noFill/>
          <a:ln w="12700">
            <a:solidFill>
              <a:srgbClr val="F4F4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4043EE-4C4C-47C6-92AA-B9786DFB6CD2}"/>
              </a:ext>
            </a:extLst>
          </p:cNvPr>
          <p:cNvSpPr>
            <a:spLocks noChangeAspect="1"/>
          </p:cNvSpPr>
          <p:nvPr/>
        </p:nvSpPr>
        <p:spPr>
          <a:xfrm>
            <a:off x="112629" y="63000"/>
            <a:ext cx="11968000" cy="67320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AAA434-8536-4D7C-857C-14AAFF31EE54}"/>
              </a:ext>
            </a:extLst>
          </p:cNvPr>
          <p:cNvSpPr/>
          <p:nvPr/>
        </p:nvSpPr>
        <p:spPr>
          <a:xfrm>
            <a:off x="368300" y="253953"/>
            <a:ext cx="11430000" cy="631194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D63F1A9-3E3A-42DF-8EB1-539560CD0C50}"/>
              </a:ext>
            </a:extLst>
          </p:cNvPr>
          <p:cNvSpPr/>
          <p:nvPr/>
        </p:nvSpPr>
        <p:spPr>
          <a:xfrm>
            <a:off x="501159" y="380064"/>
            <a:ext cx="1913505" cy="82448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 탐색</a:t>
            </a:r>
            <a:endParaRPr lang="en-US" altLang="ko-KR" sz="2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en-US" altLang="ko-KR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체지방율</a:t>
            </a:r>
            <a:r>
              <a:rPr lang="en-US" altLang="ko-KR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1BF2C7-7CBC-4CD9-AD2C-BCD58340DE9D}"/>
              </a:ext>
            </a:extLst>
          </p:cNvPr>
          <p:cNvSpPr txBox="1"/>
          <p:nvPr/>
        </p:nvSpPr>
        <p:spPr>
          <a:xfrm>
            <a:off x="6453498" y="4296177"/>
            <a:ext cx="4863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키 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/ 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몸무게 이상치를 감안하여 새로 도출 필요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23D73C-D2C0-41EB-8BE3-22DFF181C82F}"/>
              </a:ext>
            </a:extLst>
          </p:cNvPr>
          <p:cNvSpPr txBox="1"/>
          <p:nvPr/>
        </p:nvSpPr>
        <p:spPr>
          <a:xfrm>
            <a:off x="1045309" y="4287385"/>
            <a:ext cx="445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성별에 따른 쌍봉분포 확인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A352A0D-D937-4203-BBEC-7D42420AA919}"/>
              </a:ext>
            </a:extLst>
          </p:cNvPr>
          <p:cNvSpPr/>
          <p:nvPr/>
        </p:nvSpPr>
        <p:spPr>
          <a:xfrm>
            <a:off x="6224952" y="380064"/>
            <a:ext cx="1913505" cy="82448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 탐색</a:t>
            </a:r>
            <a:endParaRPr lang="en-US" altLang="ko-KR" sz="2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en-US" altLang="ko-KR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(BMI)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615EC4-ACD9-4797-89E1-3B8D069C7E61}"/>
              </a:ext>
            </a:extLst>
          </p:cNvPr>
          <p:cNvSpPr txBox="1"/>
          <p:nvPr/>
        </p:nvSpPr>
        <p:spPr>
          <a:xfrm>
            <a:off x="6453498" y="4638081"/>
            <a:ext cx="4863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열 삭제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후 </a:t>
            </a:r>
            <a:r>
              <a:rPr lang="ko-KR" altLang="en-US" b="1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몸무게</a:t>
            </a:r>
            <a:r>
              <a:rPr lang="en-US" altLang="ko-KR" b="1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/</a:t>
            </a:r>
            <a:r>
              <a:rPr lang="ko-KR" altLang="en-US" b="1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키</a:t>
            </a:r>
            <a:r>
              <a:rPr lang="en-US" altLang="ko-KR" b="1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^2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으로 다시 만들기로 결정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8B05325-AA36-4EA8-9374-3325930B8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44" y="2347936"/>
            <a:ext cx="5453198" cy="177565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B69737C-D4E3-4178-B766-39D5E8D8DCC5}"/>
              </a:ext>
            </a:extLst>
          </p:cNvPr>
          <p:cNvSpPr txBox="1"/>
          <p:nvPr/>
        </p:nvSpPr>
        <p:spPr>
          <a:xfrm>
            <a:off x="1045309" y="4635844"/>
            <a:ext cx="445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특이사항 없음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147724A8-8710-40E3-9F23-01A11EE6DC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22" t="41587"/>
          <a:stretch/>
        </p:blipFill>
        <p:spPr bwMode="auto">
          <a:xfrm>
            <a:off x="6453498" y="2005965"/>
            <a:ext cx="4863246" cy="2136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7377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Many charts and graphs. Reflection light and flare.　Concept image of data gathering and statistical working.&#10;                        ">
            <a:extLst>
              <a:ext uri="{FF2B5EF4-FFF2-40B4-BE49-F238E27FC236}">
                <a16:creationId xmlns:a16="http://schemas.microsoft.com/office/drawing/2014/main" id="{FADCE2AA-10C6-4BAE-849A-1FC6944D1A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23" b="5167"/>
          <a:stretch/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8DDCB2D-BC76-4CD1-9C03-A70821646CBD}"/>
              </a:ext>
            </a:extLst>
          </p:cNvPr>
          <p:cNvSpPr/>
          <p:nvPr/>
        </p:nvSpPr>
        <p:spPr>
          <a:xfrm>
            <a:off x="105508" y="96715"/>
            <a:ext cx="11966329" cy="6673361"/>
          </a:xfrm>
          <a:prstGeom prst="rect">
            <a:avLst/>
          </a:prstGeom>
          <a:noFill/>
          <a:ln w="12700">
            <a:solidFill>
              <a:srgbClr val="F4F4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4043EE-4C4C-47C6-92AA-B9786DFB6CD2}"/>
              </a:ext>
            </a:extLst>
          </p:cNvPr>
          <p:cNvSpPr>
            <a:spLocks noChangeAspect="1"/>
          </p:cNvSpPr>
          <p:nvPr/>
        </p:nvSpPr>
        <p:spPr>
          <a:xfrm>
            <a:off x="112629" y="63000"/>
            <a:ext cx="11968000" cy="67320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AAA434-8536-4D7C-857C-14AAFF31EE54}"/>
              </a:ext>
            </a:extLst>
          </p:cNvPr>
          <p:cNvSpPr/>
          <p:nvPr/>
        </p:nvSpPr>
        <p:spPr>
          <a:xfrm>
            <a:off x="368300" y="253953"/>
            <a:ext cx="11430000" cy="631194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D63F1A9-3E3A-42DF-8EB1-539560CD0C50}"/>
              </a:ext>
            </a:extLst>
          </p:cNvPr>
          <p:cNvSpPr/>
          <p:nvPr/>
        </p:nvSpPr>
        <p:spPr>
          <a:xfrm>
            <a:off x="501159" y="380064"/>
            <a:ext cx="1913505" cy="82448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 탐색</a:t>
            </a:r>
            <a:endParaRPr lang="en-US" altLang="ko-KR" sz="2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en-US" altLang="ko-KR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혈압</a:t>
            </a:r>
            <a:r>
              <a:rPr lang="en-US" altLang="ko-KR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1BF2C7-7CBC-4CD9-AD2C-BCD58340DE9D}"/>
              </a:ext>
            </a:extLst>
          </p:cNvPr>
          <p:cNvSpPr txBox="1"/>
          <p:nvPr/>
        </p:nvSpPr>
        <p:spPr>
          <a:xfrm>
            <a:off x="6765519" y="1308545"/>
            <a:ext cx="445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이상치 판단 기준 마련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23D73C-D2C0-41EB-8BE3-22DFF181C82F}"/>
              </a:ext>
            </a:extLst>
          </p:cNvPr>
          <p:cNvSpPr txBox="1"/>
          <p:nvPr/>
        </p:nvSpPr>
        <p:spPr>
          <a:xfrm>
            <a:off x="501159" y="5669529"/>
            <a:ext cx="5430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소수이므로 각 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record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확인하여 조치 결정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BE886B-9D9B-49CF-B13E-9088DFC8F81A}"/>
              </a:ext>
            </a:extLst>
          </p:cNvPr>
          <p:cNvSpPr txBox="1"/>
          <p:nvPr/>
        </p:nvSpPr>
        <p:spPr>
          <a:xfrm>
            <a:off x="992658" y="5278611"/>
            <a:ext cx="445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최소혈압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최대혈압 모두 </a:t>
            </a:r>
            <a:r>
              <a:rPr lang="ko-KR" altLang="en-US" b="1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극단적 이상치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발견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615EC4-ACD9-4797-89E1-3B8D069C7E61}"/>
              </a:ext>
            </a:extLst>
          </p:cNvPr>
          <p:cNvSpPr txBox="1"/>
          <p:nvPr/>
        </p:nvSpPr>
        <p:spPr>
          <a:xfrm>
            <a:off x="6733930" y="5049372"/>
            <a:ext cx="445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기준 바탕으로 확실한 이상치 </a:t>
            </a:r>
            <a:r>
              <a:rPr lang="en-US" altLang="ko-KR" b="1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record </a:t>
            </a:r>
            <a:r>
              <a:rPr lang="ko-KR" altLang="en-US" b="1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발견</a:t>
            </a:r>
            <a:endParaRPr lang="en-US" altLang="ko-KR" b="1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227A6B9-F0E4-4224-A158-2D6290B007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20" t="41595" r="2001"/>
          <a:stretch/>
        </p:blipFill>
        <p:spPr bwMode="auto">
          <a:xfrm>
            <a:off x="1209162" y="1304280"/>
            <a:ext cx="4062697" cy="1919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55A90D01-2D55-4385-B2F5-9521F33593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76" t="40668"/>
          <a:stretch/>
        </p:blipFill>
        <p:spPr bwMode="auto">
          <a:xfrm>
            <a:off x="1159124" y="3286859"/>
            <a:ext cx="4162771" cy="1919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id="{53514AFE-89AA-478C-8B35-E9C2E1CC0CAD}"/>
              </a:ext>
            </a:extLst>
          </p:cNvPr>
          <p:cNvSpPr/>
          <p:nvPr/>
        </p:nvSpPr>
        <p:spPr>
          <a:xfrm>
            <a:off x="6220756" y="380064"/>
            <a:ext cx="1913505" cy="82448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 탐색</a:t>
            </a:r>
            <a:endParaRPr lang="en-US" altLang="ko-KR" sz="2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en-US" altLang="ko-KR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악력</a:t>
            </a:r>
            <a:r>
              <a:rPr lang="en-US" altLang="ko-KR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8916134-4A2E-4CF3-A11F-FD360C67841C}"/>
              </a:ext>
            </a:extLst>
          </p:cNvPr>
          <p:cNvSpPr/>
          <p:nvPr/>
        </p:nvSpPr>
        <p:spPr>
          <a:xfrm>
            <a:off x="6363531" y="1870071"/>
            <a:ext cx="1627953" cy="473332"/>
          </a:xfrm>
          <a:prstGeom prst="roundRect">
            <a:avLst/>
          </a:prstGeom>
          <a:noFill/>
          <a:ln w="28575">
            <a:solidFill>
              <a:srgbClr val="F4F4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국내 평균 악력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2D7230-367C-4D30-9D24-FA5F6087AA00}"/>
              </a:ext>
            </a:extLst>
          </p:cNvPr>
          <p:cNvSpPr txBox="1"/>
          <p:nvPr/>
        </p:nvSpPr>
        <p:spPr>
          <a:xfrm>
            <a:off x="8023444" y="1930863"/>
            <a:ext cx="3608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청년 남성 </a:t>
            </a:r>
            <a:r>
              <a:rPr lang="en-US" altLang="ko-KR" b="1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45~50, </a:t>
            </a:r>
            <a:r>
              <a:rPr lang="ko-KR" altLang="en-US" b="1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청년 여성 </a:t>
            </a:r>
            <a:r>
              <a:rPr lang="en-US" altLang="ko-KR" b="1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25~30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740DDC7C-6C9F-47CE-A2E9-1FCA43D693D6}"/>
              </a:ext>
            </a:extLst>
          </p:cNvPr>
          <p:cNvSpPr/>
          <p:nvPr/>
        </p:nvSpPr>
        <p:spPr>
          <a:xfrm>
            <a:off x="6363531" y="2500641"/>
            <a:ext cx="1627953" cy="473332"/>
          </a:xfrm>
          <a:prstGeom prst="roundRect">
            <a:avLst/>
          </a:prstGeom>
          <a:noFill/>
          <a:ln w="28575">
            <a:solidFill>
              <a:srgbClr val="F4F4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유명인 악력</a:t>
            </a:r>
            <a:endParaRPr lang="ko-KR" altLang="en-US" dirty="0"/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4B7B7AD6-6DEF-4CD5-8794-2C094E90D85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991" t="2201" r="2990" b="8824"/>
          <a:stretch>
            <a:fillRect/>
          </a:stretch>
        </p:blipFill>
        <p:spPr>
          <a:xfrm>
            <a:off x="6466168" y="3101288"/>
            <a:ext cx="1322886" cy="1322886"/>
          </a:xfrm>
          <a:custGeom>
            <a:avLst/>
            <a:gdLst>
              <a:gd name="connsiteX0" fmla="*/ 661443 w 1322886"/>
              <a:gd name="connsiteY0" fmla="*/ 0 h 1322886"/>
              <a:gd name="connsiteX1" fmla="*/ 1322886 w 1322886"/>
              <a:gd name="connsiteY1" fmla="*/ 661443 h 1322886"/>
              <a:gd name="connsiteX2" fmla="*/ 661443 w 1322886"/>
              <a:gd name="connsiteY2" fmla="*/ 1322886 h 1322886"/>
              <a:gd name="connsiteX3" fmla="*/ 0 w 1322886"/>
              <a:gd name="connsiteY3" fmla="*/ 661443 h 1322886"/>
              <a:gd name="connsiteX4" fmla="*/ 661443 w 1322886"/>
              <a:gd name="connsiteY4" fmla="*/ 0 h 1322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2886" h="1322886">
                <a:moveTo>
                  <a:pt x="661443" y="0"/>
                </a:moveTo>
                <a:cubicBezTo>
                  <a:pt x="1026748" y="0"/>
                  <a:pt x="1322886" y="296138"/>
                  <a:pt x="1322886" y="661443"/>
                </a:cubicBezTo>
                <a:cubicBezTo>
                  <a:pt x="1322886" y="1026748"/>
                  <a:pt x="1026748" y="1322886"/>
                  <a:pt x="661443" y="1322886"/>
                </a:cubicBezTo>
                <a:cubicBezTo>
                  <a:pt x="296138" y="1322886"/>
                  <a:pt x="0" y="1026748"/>
                  <a:pt x="0" y="661443"/>
                </a:cubicBezTo>
                <a:cubicBezTo>
                  <a:pt x="0" y="296138"/>
                  <a:pt x="296138" y="0"/>
                  <a:pt x="661443" y="0"/>
                </a:cubicBezTo>
                <a:close/>
              </a:path>
            </a:pathLst>
          </a:cu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B1C19ABF-D63C-44C7-B798-761577CE662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28" t="7969" r="7678" b="7969"/>
          <a:stretch>
            <a:fillRect/>
          </a:stretch>
        </p:blipFill>
        <p:spPr>
          <a:xfrm>
            <a:off x="10151986" y="3134435"/>
            <a:ext cx="1322886" cy="1322886"/>
          </a:xfrm>
          <a:custGeom>
            <a:avLst/>
            <a:gdLst>
              <a:gd name="connsiteX0" fmla="*/ 661443 w 1322886"/>
              <a:gd name="connsiteY0" fmla="*/ 0 h 1322886"/>
              <a:gd name="connsiteX1" fmla="*/ 1322886 w 1322886"/>
              <a:gd name="connsiteY1" fmla="*/ 661443 h 1322886"/>
              <a:gd name="connsiteX2" fmla="*/ 661443 w 1322886"/>
              <a:gd name="connsiteY2" fmla="*/ 1322886 h 1322886"/>
              <a:gd name="connsiteX3" fmla="*/ 0 w 1322886"/>
              <a:gd name="connsiteY3" fmla="*/ 661443 h 1322886"/>
              <a:gd name="connsiteX4" fmla="*/ 661443 w 1322886"/>
              <a:gd name="connsiteY4" fmla="*/ 0 h 1322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2886" h="1322886">
                <a:moveTo>
                  <a:pt x="661443" y="0"/>
                </a:moveTo>
                <a:cubicBezTo>
                  <a:pt x="1026748" y="0"/>
                  <a:pt x="1322886" y="296138"/>
                  <a:pt x="1322886" y="661443"/>
                </a:cubicBezTo>
                <a:cubicBezTo>
                  <a:pt x="1322886" y="1026748"/>
                  <a:pt x="1026748" y="1322886"/>
                  <a:pt x="661443" y="1322886"/>
                </a:cubicBezTo>
                <a:cubicBezTo>
                  <a:pt x="296138" y="1322886"/>
                  <a:pt x="0" y="1026748"/>
                  <a:pt x="0" y="661443"/>
                </a:cubicBezTo>
                <a:cubicBezTo>
                  <a:pt x="0" y="296138"/>
                  <a:pt x="296138" y="0"/>
                  <a:pt x="661443" y="0"/>
                </a:cubicBezTo>
                <a:close/>
              </a:path>
            </a:pathLst>
          </a:cu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DCC81B9D-C7D3-45A6-8D8E-05FCAE9D11F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8180" t="5533" r="44690" b="40434"/>
          <a:stretch>
            <a:fillRect/>
          </a:stretch>
        </p:blipFill>
        <p:spPr>
          <a:xfrm>
            <a:off x="8306836" y="3134435"/>
            <a:ext cx="1322886" cy="1322886"/>
          </a:xfrm>
          <a:custGeom>
            <a:avLst/>
            <a:gdLst>
              <a:gd name="connsiteX0" fmla="*/ 661443 w 1322886"/>
              <a:gd name="connsiteY0" fmla="*/ 0 h 1322886"/>
              <a:gd name="connsiteX1" fmla="*/ 1322886 w 1322886"/>
              <a:gd name="connsiteY1" fmla="*/ 661443 h 1322886"/>
              <a:gd name="connsiteX2" fmla="*/ 661443 w 1322886"/>
              <a:gd name="connsiteY2" fmla="*/ 1322886 h 1322886"/>
              <a:gd name="connsiteX3" fmla="*/ 0 w 1322886"/>
              <a:gd name="connsiteY3" fmla="*/ 661443 h 1322886"/>
              <a:gd name="connsiteX4" fmla="*/ 661443 w 1322886"/>
              <a:gd name="connsiteY4" fmla="*/ 0 h 1322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2886" h="1322886">
                <a:moveTo>
                  <a:pt x="661443" y="0"/>
                </a:moveTo>
                <a:cubicBezTo>
                  <a:pt x="1026748" y="0"/>
                  <a:pt x="1322886" y="296138"/>
                  <a:pt x="1322886" y="661443"/>
                </a:cubicBezTo>
                <a:cubicBezTo>
                  <a:pt x="1322886" y="1026748"/>
                  <a:pt x="1026748" y="1322886"/>
                  <a:pt x="661443" y="1322886"/>
                </a:cubicBezTo>
                <a:cubicBezTo>
                  <a:pt x="296138" y="1322886"/>
                  <a:pt x="0" y="1026748"/>
                  <a:pt x="0" y="661443"/>
                </a:cubicBezTo>
                <a:cubicBezTo>
                  <a:pt x="0" y="296138"/>
                  <a:pt x="296138" y="0"/>
                  <a:pt x="661443" y="0"/>
                </a:cubicBezTo>
                <a:close/>
              </a:path>
            </a:pathLst>
          </a:cu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AAB1E8C7-6614-4CF0-BB88-F65AD86B6170}"/>
              </a:ext>
            </a:extLst>
          </p:cNvPr>
          <p:cNvSpPr txBox="1"/>
          <p:nvPr/>
        </p:nvSpPr>
        <p:spPr>
          <a:xfrm>
            <a:off x="6324472" y="4492685"/>
            <a:ext cx="1606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최홍만 </a:t>
            </a:r>
            <a:r>
              <a:rPr lang="en-US" altLang="ko-KR" b="1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90kg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54FDFD-1865-4BCB-A481-FEC97139AED4}"/>
              </a:ext>
            </a:extLst>
          </p:cNvPr>
          <p:cNvSpPr txBox="1"/>
          <p:nvPr/>
        </p:nvSpPr>
        <p:spPr>
          <a:xfrm>
            <a:off x="8188055" y="4492685"/>
            <a:ext cx="1606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장미란 </a:t>
            </a:r>
            <a:r>
              <a:rPr lang="en-US" altLang="ko-KR" b="1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70kg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2F6311C-EFDD-46CA-990F-8C35F16593DB}"/>
              </a:ext>
            </a:extLst>
          </p:cNvPr>
          <p:cNvSpPr txBox="1"/>
          <p:nvPr/>
        </p:nvSpPr>
        <p:spPr>
          <a:xfrm>
            <a:off x="9993177" y="4492685"/>
            <a:ext cx="1606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오승환 </a:t>
            </a:r>
            <a:r>
              <a:rPr lang="en-US" altLang="ko-KR" b="1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83kg</a:t>
            </a:r>
          </a:p>
        </p:txBody>
      </p:sp>
      <p:graphicFrame>
        <p:nvGraphicFramePr>
          <p:cNvPr id="45" name="표 45">
            <a:extLst>
              <a:ext uri="{FF2B5EF4-FFF2-40B4-BE49-F238E27FC236}">
                <a16:creationId xmlns:a16="http://schemas.microsoft.com/office/drawing/2014/main" id="{0FC5CB0E-28DC-419D-924A-5EBFB560D5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528936"/>
              </p:ext>
            </p:extLst>
          </p:nvPr>
        </p:nvGraphicFramePr>
        <p:xfrm>
          <a:off x="6287567" y="5452419"/>
          <a:ext cx="5344075" cy="919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8815">
                  <a:extLst>
                    <a:ext uri="{9D8B030D-6E8A-4147-A177-3AD203B41FA5}">
                      <a16:colId xmlns:a16="http://schemas.microsoft.com/office/drawing/2014/main" val="1568490398"/>
                    </a:ext>
                  </a:extLst>
                </a:gridCol>
                <a:gridCol w="1068815">
                  <a:extLst>
                    <a:ext uri="{9D8B030D-6E8A-4147-A177-3AD203B41FA5}">
                      <a16:colId xmlns:a16="http://schemas.microsoft.com/office/drawing/2014/main" val="2386209311"/>
                    </a:ext>
                  </a:extLst>
                </a:gridCol>
                <a:gridCol w="1068815">
                  <a:extLst>
                    <a:ext uri="{9D8B030D-6E8A-4147-A177-3AD203B41FA5}">
                      <a16:colId xmlns:a16="http://schemas.microsoft.com/office/drawing/2014/main" val="2766800735"/>
                    </a:ext>
                  </a:extLst>
                </a:gridCol>
                <a:gridCol w="1068815">
                  <a:extLst>
                    <a:ext uri="{9D8B030D-6E8A-4147-A177-3AD203B41FA5}">
                      <a16:colId xmlns:a16="http://schemas.microsoft.com/office/drawing/2014/main" val="3516704844"/>
                    </a:ext>
                  </a:extLst>
                </a:gridCol>
                <a:gridCol w="1068815">
                  <a:extLst>
                    <a:ext uri="{9D8B030D-6E8A-4147-A177-3AD203B41FA5}">
                      <a16:colId xmlns:a16="http://schemas.microsoft.com/office/drawing/2014/main" val="877408611"/>
                    </a:ext>
                  </a:extLst>
                </a:gridCol>
              </a:tblGrid>
              <a:tr h="2233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Index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나이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성별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체중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악력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왼손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4817608"/>
                  </a:ext>
                </a:extLst>
              </a:tr>
              <a:tr h="1286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795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남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55.2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94kg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06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16094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여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47.1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91kg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5797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3680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Many charts and graphs. Reflection light and flare.　Concept image of data gathering and statistical working.&#10;                        ">
            <a:extLst>
              <a:ext uri="{FF2B5EF4-FFF2-40B4-BE49-F238E27FC236}">
                <a16:creationId xmlns:a16="http://schemas.microsoft.com/office/drawing/2014/main" id="{FADCE2AA-10C6-4BAE-849A-1FC6944D1A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23" b="5167"/>
          <a:stretch/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8DDCB2D-BC76-4CD1-9C03-A70821646CBD}"/>
              </a:ext>
            </a:extLst>
          </p:cNvPr>
          <p:cNvSpPr/>
          <p:nvPr/>
        </p:nvSpPr>
        <p:spPr>
          <a:xfrm>
            <a:off x="105508" y="96715"/>
            <a:ext cx="11966329" cy="6673361"/>
          </a:xfrm>
          <a:prstGeom prst="rect">
            <a:avLst/>
          </a:prstGeom>
          <a:noFill/>
          <a:ln w="12700">
            <a:solidFill>
              <a:srgbClr val="F4F4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4043EE-4C4C-47C6-92AA-B9786DFB6CD2}"/>
              </a:ext>
            </a:extLst>
          </p:cNvPr>
          <p:cNvSpPr>
            <a:spLocks noChangeAspect="1"/>
          </p:cNvSpPr>
          <p:nvPr/>
        </p:nvSpPr>
        <p:spPr>
          <a:xfrm>
            <a:off x="112629" y="63000"/>
            <a:ext cx="11968000" cy="67320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AAA434-8536-4D7C-857C-14AAFF31EE54}"/>
              </a:ext>
            </a:extLst>
          </p:cNvPr>
          <p:cNvSpPr/>
          <p:nvPr/>
        </p:nvSpPr>
        <p:spPr>
          <a:xfrm>
            <a:off x="368300" y="253953"/>
            <a:ext cx="11430000" cy="631194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D63F1A9-3E3A-42DF-8EB1-539560CD0C50}"/>
              </a:ext>
            </a:extLst>
          </p:cNvPr>
          <p:cNvSpPr/>
          <p:nvPr/>
        </p:nvSpPr>
        <p:spPr>
          <a:xfrm>
            <a:off x="501159" y="380064"/>
            <a:ext cx="1913505" cy="82448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 가공</a:t>
            </a:r>
            <a:endParaRPr lang="en-US" altLang="ko-KR" sz="2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en-US" altLang="ko-KR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2000" dirty="0" err="1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결측치</a:t>
            </a:r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처리</a:t>
            </a:r>
            <a:r>
              <a:rPr lang="en-US" altLang="ko-KR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1BF2C7-7CBC-4CD9-AD2C-BCD58340DE9D}"/>
              </a:ext>
            </a:extLst>
          </p:cNvPr>
          <p:cNvSpPr txBox="1"/>
          <p:nvPr/>
        </p:nvSpPr>
        <p:spPr>
          <a:xfrm>
            <a:off x="8101869" y="1799301"/>
            <a:ext cx="3696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u="sng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성별에 따른 평균값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으로 대체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23D73C-D2C0-41EB-8BE3-22DFF181C82F}"/>
              </a:ext>
            </a:extLst>
          </p:cNvPr>
          <p:cNvSpPr txBox="1"/>
          <p:nvPr/>
        </p:nvSpPr>
        <p:spPr>
          <a:xfrm>
            <a:off x="6083299" y="1334087"/>
            <a:ext cx="5722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분석 대상 </a:t>
            </a:r>
            <a:r>
              <a:rPr lang="ko-KR" altLang="en-US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컬럼 </a:t>
            </a:r>
            <a:r>
              <a:rPr lang="ko-KR" altLang="en-US" dirty="0" err="1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결측치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확인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BE886B-9D9B-49CF-B13E-9088DFC8F81A}"/>
              </a:ext>
            </a:extLst>
          </p:cNvPr>
          <p:cNvSpPr txBox="1"/>
          <p:nvPr/>
        </p:nvSpPr>
        <p:spPr>
          <a:xfrm>
            <a:off x="992658" y="1984420"/>
            <a:ext cx="4451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탐색 단계에서 확인한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algn="ctr"/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불필요 컬럼 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+ </a:t>
            </a:r>
            <a:r>
              <a:rPr lang="ko-KR" altLang="en-US" dirty="0" err="1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결측치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80% 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이상 컬럼 제거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39283E-776B-419F-9E9E-CA9FE6F31254}"/>
              </a:ext>
            </a:extLst>
          </p:cNvPr>
          <p:cNvSpPr txBox="1"/>
          <p:nvPr/>
        </p:nvSpPr>
        <p:spPr>
          <a:xfrm>
            <a:off x="485584" y="2809732"/>
            <a:ext cx="572721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80% </a:t>
            </a:r>
            <a:r>
              <a:rPr lang="ko-KR" altLang="en-US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이상 </a:t>
            </a:r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not null</a:t>
            </a:r>
            <a:r>
              <a:rPr lang="ko-KR" altLang="en-US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인 열만 추출</a:t>
            </a:r>
            <a:endParaRPr lang="ko-KR" altLang="en-US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temp01 =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data.isna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()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US" altLang="ko-KR" sz="1000" b="0" dirty="0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sum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()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&lt;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data.shape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0.2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temp01 = temp01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temp01 == </a:t>
            </a:r>
            <a:r>
              <a:rPr lang="en-US" altLang="ko-KR" sz="1000" b="0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.index</a:t>
            </a:r>
          </a:p>
          <a:p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using_cols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000" b="0" dirty="0">
                <a:solidFill>
                  <a:srgbClr val="4EC9B0"/>
                </a:solidFill>
                <a:effectLst/>
                <a:latin typeface="Courier New" panose="02070309020205020404" pitchFamily="49" charset="0"/>
              </a:rPr>
              <a:t>list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temp01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data_droped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data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using_cols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</a:p>
          <a:p>
            <a:endParaRPr lang="en-US" altLang="ko-KR" sz="1000" b="0" dirty="0">
              <a:solidFill>
                <a:srgbClr val="6AA94F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불필요한 컬럼 제거</a:t>
            </a:r>
            <a:endParaRPr lang="ko-KR" altLang="en-US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drop_cols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'MBER_SEQ_NO_VALUE'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'MESURE_PLACE_FLAG_NM'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'AGRDE_FLAG_NM'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'MESURE_DE'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'MVM_PRSCRPTN_CN'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'CNTER_NM'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'INPT_FLAG_NM'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data_droped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data_droped.drop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drop_cols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axis=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data_droped.shape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endParaRPr lang="en-US" altLang="ko-KR" sz="1000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(56431, </a:t>
            </a:r>
            <a:r>
              <a:rPr lang="en-US" altLang="ko-KR" sz="14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14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) # 14</a:t>
            </a:r>
            <a:r>
              <a:rPr lang="ko-KR" altLang="en-US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개 컬럼 대상 분석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DDC1362-7296-4C68-9F33-70AA647A7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794" y="1769129"/>
            <a:ext cx="1889075" cy="388788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08CE0CD-00D4-4ADA-B8D3-509D3B88EE5F}"/>
              </a:ext>
            </a:extLst>
          </p:cNvPr>
          <p:cNvSpPr txBox="1"/>
          <p:nvPr/>
        </p:nvSpPr>
        <p:spPr>
          <a:xfrm>
            <a:off x="8086916" y="2264515"/>
            <a:ext cx="36195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성별에 따른 평균값으로 </a:t>
            </a:r>
            <a:r>
              <a:rPr lang="ko-KR" altLang="en-US" sz="1000" b="0" dirty="0" err="1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결측치</a:t>
            </a:r>
            <a:r>
              <a:rPr lang="ko-KR" altLang="en-US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 대체</a:t>
            </a:r>
            <a:endParaRPr lang="ko-KR" altLang="en-US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col </a:t>
            </a:r>
            <a:r>
              <a:rPr lang="en-US" altLang="ko-KR" sz="1000" b="0" dirty="0">
                <a:solidFill>
                  <a:srgbClr val="82C6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Fat_rate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D_min_bld_press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S_max_bld_press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L_grip_force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R_grip_force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'Flexibility'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Grip_force_per_weight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]: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남성 평균값 계산</a:t>
            </a:r>
            <a:endParaRPr lang="ko-KR" altLang="en-US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ko-KR" altLang="en-US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male_mean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data_renamed.loc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data_renamed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'Gender'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==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'M'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col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.mean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()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여성 평균값 계산</a:t>
            </a:r>
            <a:endParaRPr lang="ko-KR" altLang="en-US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ko-KR" altLang="en-US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female_mean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data_renamed.loc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data_renamed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'Gender'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==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'F'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col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.mean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()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b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000" b="0" dirty="0" err="1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결측치</a:t>
            </a:r>
            <a:r>
              <a:rPr lang="ko-KR" altLang="en-US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 대체</a:t>
            </a:r>
            <a:endParaRPr lang="ko-KR" altLang="en-US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ko-KR" altLang="en-US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data_renamed.loc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[(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data_renamed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'Gender'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==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'M'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&amp; 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data_renamed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col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isna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()),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col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male_mean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data_renamed.loc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[(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data_renamed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'Gender'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==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'F'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&amp; 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data_renamed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col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isna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()),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col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female_mean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141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Many charts and graphs. Reflection light and flare.　Concept image of data gathering and statistical working.&#10;                        ">
            <a:extLst>
              <a:ext uri="{FF2B5EF4-FFF2-40B4-BE49-F238E27FC236}">
                <a16:creationId xmlns:a16="http://schemas.microsoft.com/office/drawing/2014/main" id="{FADCE2AA-10C6-4BAE-849A-1FC6944D1A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23" b="5167"/>
          <a:stretch/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8DDCB2D-BC76-4CD1-9C03-A70821646CBD}"/>
              </a:ext>
            </a:extLst>
          </p:cNvPr>
          <p:cNvSpPr/>
          <p:nvPr/>
        </p:nvSpPr>
        <p:spPr>
          <a:xfrm>
            <a:off x="105508" y="96715"/>
            <a:ext cx="11966329" cy="6673361"/>
          </a:xfrm>
          <a:prstGeom prst="rect">
            <a:avLst/>
          </a:prstGeom>
          <a:noFill/>
          <a:ln w="12700">
            <a:solidFill>
              <a:srgbClr val="F4F4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4043EE-4C4C-47C6-92AA-B9786DFB6CD2}"/>
              </a:ext>
            </a:extLst>
          </p:cNvPr>
          <p:cNvSpPr>
            <a:spLocks noChangeAspect="1"/>
          </p:cNvSpPr>
          <p:nvPr/>
        </p:nvSpPr>
        <p:spPr>
          <a:xfrm>
            <a:off x="112629" y="63000"/>
            <a:ext cx="11968000" cy="67320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AAA434-8536-4D7C-857C-14AAFF31EE54}"/>
              </a:ext>
            </a:extLst>
          </p:cNvPr>
          <p:cNvSpPr/>
          <p:nvPr/>
        </p:nvSpPr>
        <p:spPr>
          <a:xfrm>
            <a:off x="368300" y="253953"/>
            <a:ext cx="11430000" cy="631194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D63F1A9-3E3A-42DF-8EB1-539560CD0C50}"/>
              </a:ext>
            </a:extLst>
          </p:cNvPr>
          <p:cNvSpPr/>
          <p:nvPr/>
        </p:nvSpPr>
        <p:spPr>
          <a:xfrm>
            <a:off x="501159" y="380064"/>
            <a:ext cx="1913505" cy="82448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 가공</a:t>
            </a:r>
            <a:endParaRPr lang="en-US" altLang="ko-KR" sz="2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en-US" altLang="ko-KR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이상치 처리</a:t>
            </a:r>
            <a:r>
              <a:rPr lang="en-US" altLang="ko-KR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1BF2C7-7CBC-4CD9-AD2C-BCD58340DE9D}"/>
              </a:ext>
            </a:extLst>
          </p:cNvPr>
          <p:cNvSpPr txBox="1"/>
          <p:nvPr/>
        </p:nvSpPr>
        <p:spPr>
          <a:xfrm>
            <a:off x="6634284" y="5082072"/>
            <a:ext cx="52766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이상치 판단 기준 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'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중앙값 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- (IQR 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* 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1.5)’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미만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just"/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이상치 제거 방법 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중앙값으로 대체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BE886B-9D9B-49CF-B13E-9088DFC8F81A}"/>
              </a:ext>
            </a:extLst>
          </p:cNvPr>
          <p:cNvSpPr txBox="1"/>
          <p:nvPr/>
        </p:nvSpPr>
        <p:spPr>
          <a:xfrm>
            <a:off x="1099282" y="1731046"/>
            <a:ext cx="56983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# </a:t>
            </a:r>
            <a:r>
              <a:rPr lang="ko-KR" altLang="en-US" sz="1400" b="1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키</a:t>
            </a:r>
            <a:r>
              <a:rPr lang="en-US" altLang="ko-KR" sz="1400" b="1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/</a:t>
            </a:r>
            <a:r>
              <a:rPr lang="ko-KR" altLang="en-US" sz="1400" b="1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체중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1400" b="0" dirty="0" err="1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과소측정된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값 존재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endParaRPr lang="ko-KR" altLang="en-US" sz="1400" b="0" dirty="0">
              <a:solidFill>
                <a:schemeClr val="bg1"/>
              </a:solidFill>
              <a:effectLst/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just"/>
            <a:r>
              <a:rPr lang="en-US" altLang="ko-KR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# </a:t>
            </a:r>
            <a:r>
              <a:rPr lang="en-US" altLang="ko-KR" sz="1400" b="1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BMI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: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삭제 후 몸무게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/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키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^2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으로 다시 계산</a:t>
            </a:r>
          </a:p>
          <a:p>
            <a:pPr algn="just"/>
            <a:r>
              <a:rPr lang="en-US" altLang="ko-KR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# </a:t>
            </a:r>
            <a:r>
              <a:rPr lang="ko-KR" altLang="en-US" sz="1400" b="1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악력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795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번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16094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번 레코드 삭제</a:t>
            </a:r>
          </a:p>
          <a:p>
            <a:pPr algn="just"/>
            <a:r>
              <a:rPr lang="en-US" altLang="ko-KR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# </a:t>
            </a:r>
            <a:r>
              <a:rPr lang="ko-KR" altLang="en-US" sz="1400" b="1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혈압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최저혈압 상위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2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개 행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/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최고혈압 상위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26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개 행 삭제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E13E89-EA31-4258-B221-2DB9DF5C90E9}"/>
              </a:ext>
            </a:extLst>
          </p:cNvPr>
          <p:cNvSpPr txBox="1"/>
          <p:nvPr/>
        </p:nvSpPr>
        <p:spPr>
          <a:xfrm>
            <a:off x="393700" y="1390679"/>
            <a:ext cx="5702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탐색 단계 결정 사항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93D687-DD7B-4C13-861F-15F2522EE6AB}"/>
              </a:ext>
            </a:extLst>
          </p:cNvPr>
          <p:cNvSpPr txBox="1"/>
          <p:nvPr/>
        </p:nvSpPr>
        <p:spPr>
          <a:xfrm>
            <a:off x="6094536" y="903939"/>
            <a:ext cx="5702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키</a:t>
            </a:r>
            <a:r>
              <a:rPr lang="en-US" altLang="ko-KR" b="1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/</a:t>
            </a:r>
            <a:r>
              <a:rPr lang="ko-KR" altLang="en-US" b="1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몸무게</a:t>
            </a:r>
            <a:r>
              <a:rPr lang="en-US" altLang="ko-KR" b="1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/BMI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23A12D-A916-4FC5-868F-A4F6893FAFD4}"/>
              </a:ext>
            </a:extLst>
          </p:cNvPr>
          <p:cNvSpPr txBox="1"/>
          <p:nvPr/>
        </p:nvSpPr>
        <p:spPr>
          <a:xfrm>
            <a:off x="6112606" y="1213470"/>
            <a:ext cx="569135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BMI</a:t>
            </a:r>
            <a:r>
              <a:rPr lang="ko-KR" altLang="en-US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열 삭제</a:t>
            </a:r>
            <a:endParaRPr lang="ko-KR" altLang="en-US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data_cleaned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data_renamed.drop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'BMI'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axis=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b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Height, Weight : </a:t>
            </a:r>
            <a:r>
              <a:rPr lang="ko-KR" altLang="en-US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같은 행에서 나란히 이상치 발견 </a:t>
            </a:r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: IQR </a:t>
            </a:r>
            <a:r>
              <a:rPr lang="ko-KR" altLang="en-US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기반으로 중앙값 대체</a:t>
            </a:r>
            <a:endParaRPr lang="ko-KR" altLang="en-US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replace_outliers_median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000" b="0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df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ko-KR" sz="1000" b="0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column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: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q1 = df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column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.quantile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0.25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 </a:t>
            </a:r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1</a:t>
            </a:r>
            <a:r>
              <a:rPr lang="ko-KR" altLang="en-US" sz="1000" b="0" dirty="0" err="1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분위수</a:t>
            </a:r>
            <a:endParaRPr lang="ko-KR" altLang="en-US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ko-KR" altLang="en-US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q3 = df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column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.quantile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0.75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 </a:t>
            </a:r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3</a:t>
            </a:r>
            <a:r>
              <a:rPr lang="ko-KR" altLang="en-US" sz="1000" b="0" dirty="0" err="1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분위수</a:t>
            </a:r>
            <a:endParaRPr lang="ko-KR" altLang="en-US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ko-KR" altLang="en-US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iqr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q3 - q1</a:t>
            </a:r>
          </a:p>
          <a:p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lower_bound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q1 - 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1.5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*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iqr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upper_bound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q3 + 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1.5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*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iqr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b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중앙값 계산</a:t>
            </a:r>
            <a:endParaRPr lang="ko-KR" altLang="en-US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ko-KR" altLang="en-US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median_value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df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[(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df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column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&gt;=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lower_bound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&amp; 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df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column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&lt;=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upper_bound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)][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column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.median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()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b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이상치 대체</a:t>
            </a:r>
            <a:endParaRPr lang="ko-KR" altLang="en-US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ko-KR" altLang="en-US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df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column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df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column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.apply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000" b="0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lambda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x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median_value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x &lt;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lower_bound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82C6FF"/>
                </a:solidFill>
                <a:effectLst/>
                <a:latin typeface="Courier New" panose="02070309020205020404" pitchFamily="49" charset="0"/>
              </a:rPr>
              <a:t>or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x &gt;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upper_bound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else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x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000" b="0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df</a:t>
            </a:r>
          </a:p>
          <a:p>
            <a:b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000" b="0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82C6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range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):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data_cleaned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replace_outliers_median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data_cleaned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'Height'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data_cleaned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replace_outliers_median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data_cleaned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'Weight'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F23DBE1-1333-47DB-B0C5-FB5C5662E27D}"/>
              </a:ext>
            </a:extLst>
          </p:cNvPr>
          <p:cNvSpPr/>
          <p:nvPr/>
        </p:nvSpPr>
        <p:spPr>
          <a:xfrm>
            <a:off x="501159" y="1726503"/>
            <a:ext cx="5500076" cy="95410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501103-A4DB-4F8E-9C39-92DCEFE274F3}"/>
              </a:ext>
            </a:extLst>
          </p:cNvPr>
          <p:cNvSpPr txBox="1"/>
          <p:nvPr/>
        </p:nvSpPr>
        <p:spPr>
          <a:xfrm>
            <a:off x="386373" y="2896737"/>
            <a:ext cx="5702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악력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C4EDE2-D66D-4E4D-9BC7-5AEF3BE1A580}"/>
              </a:ext>
            </a:extLst>
          </p:cNvPr>
          <p:cNvSpPr txBox="1"/>
          <p:nvPr/>
        </p:nvSpPr>
        <p:spPr>
          <a:xfrm>
            <a:off x="428625" y="3195935"/>
            <a:ext cx="56839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악력 이상치 가진 </a:t>
            </a:r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795</a:t>
            </a:r>
            <a:r>
              <a:rPr lang="ko-KR" altLang="en-US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번</a:t>
            </a:r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, 16094</a:t>
            </a:r>
            <a:r>
              <a:rPr lang="ko-KR" altLang="en-US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번 행 삭제</a:t>
            </a:r>
            <a:endParaRPr lang="ko-KR" altLang="en-US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data_cleaned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data_cleaned.drop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([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795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16094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],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axis=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40F0140-88ED-492F-BCC2-AC6728C47BBB}"/>
              </a:ext>
            </a:extLst>
          </p:cNvPr>
          <p:cNvSpPr txBox="1"/>
          <p:nvPr/>
        </p:nvSpPr>
        <p:spPr>
          <a:xfrm>
            <a:off x="386373" y="3952026"/>
            <a:ext cx="5702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혈압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EE390B0-AB52-476E-AA5D-270B3EA0D8D6}"/>
              </a:ext>
            </a:extLst>
          </p:cNvPr>
          <p:cNvSpPr txBox="1"/>
          <p:nvPr/>
        </p:nvSpPr>
        <p:spPr>
          <a:xfrm>
            <a:off x="425655" y="4318166"/>
            <a:ext cx="6096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혈압 이상치 가진 최대혈압 상위 </a:t>
            </a:r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26</a:t>
            </a:r>
            <a:r>
              <a:rPr lang="ko-KR" altLang="en-US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개</a:t>
            </a:r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ko-KR" altLang="en-US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최저혈압 상위 </a:t>
            </a:r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ko-KR" altLang="en-US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개 행 삭제</a:t>
            </a:r>
            <a:endParaRPr lang="ko-KR" altLang="en-US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data_cleaned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data_cleaned.drop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data_cleaned.nlargest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26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S_max_bld_press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.index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data_cleaned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data_cleaned.drop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data_cleaned.nsmallest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D_min_bld_press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.index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8894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Many charts and graphs. Reflection light and flare.　Concept image of data gathering and statistical working.&#10;                        ">
            <a:extLst>
              <a:ext uri="{FF2B5EF4-FFF2-40B4-BE49-F238E27FC236}">
                <a16:creationId xmlns:a16="http://schemas.microsoft.com/office/drawing/2014/main" id="{FADCE2AA-10C6-4BAE-849A-1FC6944D1A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23" b="5167"/>
          <a:stretch/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8DDCB2D-BC76-4CD1-9C03-A70821646CBD}"/>
              </a:ext>
            </a:extLst>
          </p:cNvPr>
          <p:cNvSpPr/>
          <p:nvPr/>
        </p:nvSpPr>
        <p:spPr>
          <a:xfrm>
            <a:off x="105508" y="96715"/>
            <a:ext cx="11966329" cy="6673361"/>
          </a:xfrm>
          <a:prstGeom prst="rect">
            <a:avLst/>
          </a:prstGeom>
          <a:noFill/>
          <a:ln w="12700">
            <a:solidFill>
              <a:srgbClr val="F4F4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4043EE-4C4C-47C6-92AA-B9786DFB6CD2}"/>
              </a:ext>
            </a:extLst>
          </p:cNvPr>
          <p:cNvSpPr>
            <a:spLocks noChangeAspect="1"/>
          </p:cNvSpPr>
          <p:nvPr/>
        </p:nvSpPr>
        <p:spPr>
          <a:xfrm>
            <a:off x="112629" y="63000"/>
            <a:ext cx="11968000" cy="67320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AAA434-8536-4D7C-857C-14AAFF31EE54}"/>
              </a:ext>
            </a:extLst>
          </p:cNvPr>
          <p:cNvSpPr/>
          <p:nvPr/>
        </p:nvSpPr>
        <p:spPr>
          <a:xfrm>
            <a:off x="368300" y="253953"/>
            <a:ext cx="11430000" cy="631194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D63F1A9-3E3A-42DF-8EB1-539560CD0C50}"/>
              </a:ext>
            </a:extLst>
          </p:cNvPr>
          <p:cNvSpPr/>
          <p:nvPr/>
        </p:nvSpPr>
        <p:spPr>
          <a:xfrm>
            <a:off x="501159" y="380064"/>
            <a:ext cx="1913505" cy="82448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 가공</a:t>
            </a:r>
            <a:endParaRPr lang="en-US" altLang="ko-KR" sz="2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en-US" altLang="ko-KR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추가 열 생성</a:t>
            </a:r>
            <a:r>
              <a:rPr lang="en-US" altLang="ko-KR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BE886B-9D9B-49CF-B13E-9088DFC8F81A}"/>
              </a:ext>
            </a:extLst>
          </p:cNvPr>
          <p:cNvSpPr txBox="1"/>
          <p:nvPr/>
        </p:nvSpPr>
        <p:spPr>
          <a:xfrm>
            <a:off x="1432657" y="3035971"/>
            <a:ext cx="442444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400" b="1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BMI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: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몸무게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/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키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^2</a:t>
            </a:r>
          </a:p>
          <a:p>
            <a:pPr algn="just"/>
            <a:r>
              <a:rPr lang="ko-KR" altLang="en-US" sz="1400" b="1" dirty="0" err="1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혈압차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1400" b="0" dirty="0" err="1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수축기최고혈압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– </a:t>
            </a:r>
            <a:r>
              <a:rPr lang="ko-KR" altLang="en-US" sz="1400" b="0" dirty="0" err="1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이완기최저혈압</a:t>
            </a:r>
            <a:endParaRPr lang="en-US" altLang="ko-KR" sz="1400" b="0" dirty="0">
              <a:solidFill>
                <a:schemeClr val="bg1"/>
              </a:solidFill>
              <a:effectLst/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just"/>
            <a:r>
              <a:rPr lang="ko-KR" altLang="en-US" sz="1400" b="1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좌우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ko-KR" altLang="en-US" sz="1400" b="1" dirty="0" err="1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악력차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(</a:t>
            </a:r>
            <a:r>
              <a:rPr lang="ko-KR" altLang="en-US" sz="1400" b="0" dirty="0" err="1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왼손악력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– </a:t>
            </a:r>
            <a:r>
              <a:rPr lang="ko-KR" altLang="en-US" sz="1400" b="0" dirty="0" err="1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오른손악력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의 절댓값</a:t>
            </a:r>
            <a:endParaRPr lang="en-US" altLang="ko-KR" sz="1400" b="0" dirty="0">
              <a:solidFill>
                <a:schemeClr val="bg1"/>
              </a:solidFill>
              <a:effectLst/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just"/>
            <a:r>
              <a:rPr lang="ko-KR" altLang="en-US" sz="1400" b="1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체지방율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ko-KR" altLang="en-US" sz="1400" b="1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구간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남녀별 이상적 체지방율 미만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/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초과 여부</a:t>
            </a:r>
            <a:endParaRPr lang="en-US" altLang="ko-KR" sz="1400" b="0" dirty="0">
              <a:solidFill>
                <a:schemeClr val="bg1"/>
              </a:solidFill>
              <a:effectLst/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just"/>
            <a:r>
              <a:rPr lang="ko-KR" altLang="en-US" sz="1400" b="1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비만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ko-KR" altLang="en-US" sz="1400" b="1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여부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남녀별  </a:t>
            </a:r>
            <a:r>
              <a:rPr lang="en-US" altLang="ko-KR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BMI </a:t>
            </a:r>
            <a:r>
              <a:rPr lang="ko-KR" altLang="en-US" sz="1400" b="0" dirty="0">
                <a:solidFill>
                  <a:schemeClr val="bg1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기준 초과 여부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E13E89-EA31-4258-B221-2DB9DF5C90E9}"/>
              </a:ext>
            </a:extLst>
          </p:cNvPr>
          <p:cNvSpPr txBox="1"/>
          <p:nvPr/>
        </p:nvSpPr>
        <p:spPr>
          <a:xfrm>
            <a:off x="393700" y="2695604"/>
            <a:ext cx="5702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추가 대상 열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F23DBE1-1333-47DB-B0C5-FB5C5662E27D}"/>
              </a:ext>
            </a:extLst>
          </p:cNvPr>
          <p:cNvSpPr/>
          <p:nvPr/>
        </p:nvSpPr>
        <p:spPr>
          <a:xfrm>
            <a:off x="501159" y="3031428"/>
            <a:ext cx="5500076" cy="1170234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D8FD09-5A9C-4855-ADCA-F39384F7B304}"/>
              </a:ext>
            </a:extLst>
          </p:cNvPr>
          <p:cNvSpPr txBox="1"/>
          <p:nvPr/>
        </p:nvSpPr>
        <p:spPr>
          <a:xfrm>
            <a:off x="6093317" y="295304"/>
            <a:ext cx="5702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소스코드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47D9C3-EE10-43BC-8501-B487D0F7CCBB}"/>
              </a:ext>
            </a:extLst>
          </p:cNvPr>
          <p:cNvSpPr txBox="1"/>
          <p:nvPr/>
        </p:nvSpPr>
        <p:spPr>
          <a:xfrm>
            <a:off x="6121399" y="595947"/>
            <a:ext cx="5674217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Feature </a:t>
            </a:r>
            <a:r>
              <a:rPr lang="ko-KR" altLang="en-US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추가 생성</a:t>
            </a:r>
            <a:endParaRPr lang="ko-KR" altLang="en-US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삭제했던 </a:t>
            </a:r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BMI </a:t>
            </a:r>
            <a:r>
              <a:rPr lang="ko-KR" altLang="en-US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열 추가</a:t>
            </a:r>
            <a:endParaRPr lang="ko-KR" altLang="en-US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data_cleaned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'BMI'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data_cleaned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'Weight'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/ 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((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data_cleaned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'Height'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100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**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b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좌우 </a:t>
            </a:r>
            <a:r>
              <a:rPr lang="ko-KR" altLang="en-US" sz="1000" b="0" dirty="0" err="1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악력차</a:t>
            </a:r>
            <a:endParaRPr lang="ko-KR" altLang="en-US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data_cleaned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Grip_force_diff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data_cleaned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L_grip_force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-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data_cleaned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R_grip_force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])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US" altLang="ko-KR" sz="1000" b="0" dirty="0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abs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()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b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000" b="0" dirty="0" err="1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혈압차</a:t>
            </a:r>
            <a:endParaRPr lang="ko-KR" altLang="en-US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data_cleaned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Blood_pressure_diff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data_cleaned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S_max_bld_press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-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data_cleaned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D_min_bld_press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b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체지방율 구간 판별 함수</a:t>
            </a:r>
            <a:endParaRPr lang="en-US" altLang="ko-KR" sz="1000" b="0" dirty="0">
              <a:solidFill>
                <a:srgbClr val="6AA94F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dirty="0">
                <a:solidFill>
                  <a:srgbClr val="6AA94F"/>
                </a:solidFill>
                <a:latin typeface="Courier New" panose="02070309020205020404" pitchFamily="49" charset="0"/>
              </a:rPr>
              <a:t>  </a:t>
            </a:r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- </a:t>
            </a:r>
            <a:r>
              <a:rPr lang="ko-KR" altLang="en-US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남자 </a:t>
            </a:r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14% ~ 20%, </a:t>
            </a:r>
            <a:r>
              <a:rPr lang="ko-KR" altLang="en-US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여자 </a:t>
            </a:r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18% ~ 28%, 'Under', 'Fit', 'Over'</a:t>
            </a:r>
            <a:r>
              <a:rPr lang="ko-KR" altLang="en-US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로 구분</a:t>
            </a:r>
            <a:endParaRPr lang="ko-KR" altLang="en-US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함수 생성</a:t>
            </a:r>
            <a:endParaRPr lang="ko-KR" altLang="en-US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 err="1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cat_fat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000" b="0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row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: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000" b="0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row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'Gender'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==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'M'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: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US" altLang="ko-KR" sz="1000" b="0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row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Fat_rate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&lt; 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14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: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        </a:t>
            </a:r>
            <a:r>
              <a:rPr lang="en-US" altLang="ko-KR" sz="1000" b="0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'Under'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US" altLang="ko-KR" sz="1000" b="0" dirty="0" err="1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elif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14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&lt;= row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Fat_rate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&lt;= 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20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: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        </a:t>
            </a:r>
            <a:r>
              <a:rPr lang="en-US" altLang="ko-KR" sz="1000" b="0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'Fit'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US" altLang="ko-KR" sz="1000" b="0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else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: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        </a:t>
            </a:r>
            <a:r>
              <a:rPr lang="en-US" altLang="ko-KR" sz="1000" b="0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'Over'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ko-KR" sz="1000" b="0" dirty="0" err="1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elif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row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'Gender'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==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'F'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: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US" altLang="ko-KR" sz="1000" b="0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row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Fat_rate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&lt; 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18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: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        </a:t>
            </a:r>
            <a:r>
              <a:rPr lang="en-US" altLang="ko-KR" sz="1000" b="0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'Under'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US" altLang="ko-KR" sz="1000" b="0" dirty="0" err="1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elif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18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&lt;= row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Fat_rate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&lt;= 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28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: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        </a:t>
            </a:r>
            <a:r>
              <a:rPr lang="en-US" altLang="ko-KR" sz="1000" b="0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'Fit'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US" altLang="ko-KR" sz="1000" b="0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else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: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        </a:t>
            </a:r>
            <a:r>
              <a:rPr lang="en-US" altLang="ko-KR" sz="1000" b="0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'Over'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b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체지방율 구간 열 추가</a:t>
            </a:r>
            <a:endParaRPr lang="ko-KR" altLang="en-US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data_cleaned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Fat_category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data_cleaned.apply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cat_fat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axis=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b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비만 여부 열 추가</a:t>
            </a:r>
            <a:endParaRPr lang="ko-KR" altLang="en-US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data_cleaned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'Obesity'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data_cleaned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'BMI'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.apply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000" b="0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lambda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x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'Obesity'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x &gt;= 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25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else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'Non-Obesity’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116887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Many charts and graphs. Reflection light and flare.　Concept image of data gathering and statistical working.&#10;                        ">
            <a:extLst>
              <a:ext uri="{FF2B5EF4-FFF2-40B4-BE49-F238E27FC236}">
                <a16:creationId xmlns:a16="http://schemas.microsoft.com/office/drawing/2014/main" id="{FADCE2AA-10C6-4BAE-849A-1FC6944D1A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23" b="5167"/>
          <a:stretch/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8DDCB2D-BC76-4CD1-9C03-A70821646CBD}"/>
              </a:ext>
            </a:extLst>
          </p:cNvPr>
          <p:cNvSpPr/>
          <p:nvPr/>
        </p:nvSpPr>
        <p:spPr>
          <a:xfrm>
            <a:off x="105508" y="96715"/>
            <a:ext cx="11966329" cy="6673361"/>
          </a:xfrm>
          <a:prstGeom prst="rect">
            <a:avLst/>
          </a:prstGeom>
          <a:noFill/>
          <a:ln w="12700">
            <a:solidFill>
              <a:srgbClr val="F4F4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4043EE-4C4C-47C6-92AA-B9786DFB6CD2}"/>
              </a:ext>
            </a:extLst>
          </p:cNvPr>
          <p:cNvSpPr>
            <a:spLocks noChangeAspect="1"/>
          </p:cNvSpPr>
          <p:nvPr/>
        </p:nvSpPr>
        <p:spPr>
          <a:xfrm>
            <a:off x="112629" y="63000"/>
            <a:ext cx="11968000" cy="67320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AAA434-8536-4D7C-857C-14AAFF31EE54}"/>
              </a:ext>
            </a:extLst>
          </p:cNvPr>
          <p:cNvSpPr/>
          <p:nvPr/>
        </p:nvSpPr>
        <p:spPr>
          <a:xfrm>
            <a:off x="368300" y="253953"/>
            <a:ext cx="11430000" cy="631194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D63F1A9-3E3A-42DF-8EB1-539560CD0C50}"/>
              </a:ext>
            </a:extLst>
          </p:cNvPr>
          <p:cNvSpPr/>
          <p:nvPr/>
        </p:nvSpPr>
        <p:spPr>
          <a:xfrm>
            <a:off x="501159" y="380064"/>
            <a:ext cx="1913505" cy="82448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 가공 결과</a:t>
            </a:r>
            <a:endParaRPr lang="en-US" altLang="ko-KR" sz="2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82180B3-8F9C-48DC-8983-2BF1F0831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986" y="1267461"/>
            <a:ext cx="11263189" cy="127819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552A38-C3FC-436D-9309-9D6B94B1C986}"/>
              </a:ext>
            </a:extLst>
          </p:cNvPr>
          <p:cNvSpPr/>
          <p:nvPr/>
        </p:nvSpPr>
        <p:spPr>
          <a:xfrm>
            <a:off x="501159" y="2696578"/>
            <a:ext cx="1854691" cy="373491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 </a:t>
            </a:r>
            <a:r>
              <a:rPr lang="ko-KR" altLang="en-US" sz="2000" dirty="0" err="1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전처리</a:t>
            </a:r>
            <a:endParaRPr lang="en-US" altLang="ko-KR" sz="2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035D5C-B63E-4C82-B56B-23C98DC54612}"/>
              </a:ext>
            </a:extLst>
          </p:cNvPr>
          <p:cNvSpPr txBox="1"/>
          <p:nvPr/>
        </p:nvSpPr>
        <p:spPr>
          <a:xfrm>
            <a:off x="2381251" y="2790200"/>
            <a:ext cx="944245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데이터 </a:t>
            </a:r>
            <a:r>
              <a:rPr lang="ko-KR" altLang="en-US" sz="1000" b="0" dirty="0" err="1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전처리</a:t>
            </a:r>
            <a:r>
              <a:rPr lang="ko-KR" altLang="en-US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: target = 'Grade'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'Grade'</a:t>
            </a:r>
            <a:r>
              <a:rPr lang="ko-KR" altLang="en-US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열 값 변경</a:t>
            </a:r>
            <a:endParaRPr lang="ko-KR" altLang="en-US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data_cleaned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'Grade'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data_cleaned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'Grade'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.replace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({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ko-KR" altLang="en-US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참가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'Bronze'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'3</a:t>
            </a:r>
            <a:r>
              <a:rPr lang="ko-KR" altLang="en-US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등급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'Silver'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'2</a:t>
            </a:r>
            <a:r>
              <a:rPr lang="ko-KR" altLang="en-US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등급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'Gold'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'1</a:t>
            </a:r>
            <a:r>
              <a:rPr lang="ko-KR" altLang="en-US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등급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'Diamond'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})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b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X, y </a:t>
            </a:r>
            <a:r>
              <a:rPr lang="ko-KR" altLang="en-US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분리</a:t>
            </a:r>
            <a:endParaRPr lang="ko-KR" altLang="en-US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X =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data_cleaned.drop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'Grade'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axis=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y =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data_cleaned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'Grade'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b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000" b="0" dirty="0" err="1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원핫인코딩</a:t>
            </a:r>
            <a:endParaRPr lang="ko-KR" altLang="en-US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X =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pd.get_dummies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X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columns=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'Gender'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Fat_category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'Obesity'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],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drop_first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000" b="0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dtype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000" b="0" dirty="0">
                <a:solidFill>
                  <a:srgbClr val="4EC9B0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b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ko-KR" altLang="en-US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트레인셋 테스트셋 분리</a:t>
            </a:r>
            <a:endParaRPr lang="ko-KR" altLang="en-US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X_train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X_test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y_train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train_test_split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X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y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test_size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ko-KR" sz="1000" b="0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0.2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stratify=y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b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en-US" altLang="ko-KR" sz="1000" b="0" dirty="0" err="1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MinMax</a:t>
            </a:r>
            <a:r>
              <a:rPr lang="ko-KR" altLang="en-US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스케일링</a:t>
            </a:r>
            <a:endParaRPr lang="ko-KR" altLang="en-US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scaler =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MinMaxScaler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()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X_train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scaler.fit_transform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X_train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X_test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scaler.transform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X_test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b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</a:br>
            <a:r>
              <a:rPr lang="en-US" altLang="ko-KR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y</a:t>
            </a:r>
            <a:r>
              <a:rPr lang="ko-KR" altLang="en-US" sz="1000" b="0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값 가변수화</a:t>
            </a:r>
            <a:endParaRPr lang="ko-KR" altLang="en-US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le =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LabelEncoder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()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y_train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le.fit_transform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y_train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US" altLang="ko-KR" sz="1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le.transform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ko-KR" sz="10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US" altLang="ko-KR" sz="1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altLang="ko-KR" sz="1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67038C-2C44-4548-90BF-B7F7DAB4C4A3}"/>
              </a:ext>
            </a:extLst>
          </p:cNvPr>
          <p:cNvSpPr txBox="1"/>
          <p:nvPr/>
        </p:nvSpPr>
        <p:spPr>
          <a:xfrm>
            <a:off x="5671038" y="5257917"/>
            <a:ext cx="61959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원본 데이터의 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'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인증구분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’ 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열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참가 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/ 3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등급 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/ 2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등급 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/ 1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등급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을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just"/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Target Data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로 하여 청년층에 친숙한 용어 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‘</a:t>
            </a:r>
            <a:r>
              <a:rPr lang="ko-KR" altLang="en-US" dirty="0" err="1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티어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’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로 변경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just"/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브론즈 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/ 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실버 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/ 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골드 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/ 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다이아몬드 등급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154268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reative idea.Concept of idea and innovation">
            <a:extLst>
              <a:ext uri="{FF2B5EF4-FFF2-40B4-BE49-F238E27FC236}">
                <a16:creationId xmlns:a16="http://schemas.microsoft.com/office/drawing/2014/main" id="{441EA736-2FC7-412C-BA8E-6B63230CDA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02"/>
          <a:stretch/>
        </p:blipFill>
        <p:spPr bwMode="auto">
          <a:xfrm>
            <a:off x="1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8DDCB2D-BC76-4CD1-9C03-A70821646CBD}"/>
              </a:ext>
            </a:extLst>
          </p:cNvPr>
          <p:cNvSpPr/>
          <p:nvPr/>
        </p:nvSpPr>
        <p:spPr>
          <a:xfrm>
            <a:off x="105508" y="96715"/>
            <a:ext cx="11966329" cy="6673361"/>
          </a:xfrm>
          <a:prstGeom prst="rect">
            <a:avLst/>
          </a:prstGeom>
          <a:noFill/>
          <a:ln w="12700">
            <a:solidFill>
              <a:srgbClr val="F4F4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4043EE-4C4C-47C6-92AA-B9786DFB6CD2}"/>
              </a:ext>
            </a:extLst>
          </p:cNvPr>
          <p:cNvSpPr>
            <a:spLocks noChangeAspect="1"/>
          </p:cNvSpPr>
          <p:nvPr/>
        </p:nvSpPr>
        <p:spPr>
          <a:xfrm>
            <a:off x="112629" y="63000"/>
            <a:ext cx="11968000" cy="67320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AAA434-8536-4D7C-857C-14AAFF31EE54}"/>
              </a:ext>
            </a:extLst>
          </p:cNvPr>
          <p:cNvSpPr/>
          <p:nvPr/>
        </p:nvSpPr>
        <p:spPr>
          <a:xfrm>
            <a:off x="368300" y="253953"/>
            <a:ext cx="11430000" cy="631194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FC7BBE-ABF4-4E81-8C34-168C25CBB1C6}"/>
              </a:ext>
            </a:extLst>
          </p:cNvPr>
          <p:cNvSpPr txBox="1"/>
          <p:nvPr/>
        </p:nvSpPr>
        <p:spPr>
          <a:xfrm>
            <a:off x="368300" y="3006829"/>
            <a:ext cx="114046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분석 결과 및 솔루션 제안</a:t>
            </a:r>
            <a:endParaRPr lang="en-US" altLang="ko-KR" sz="5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07836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reative idea.Concept of idea and innovation">
            <a:extLst>
              <a:ext uri="{FF2B5EF4-FFF2-40B4-BE49-F238E27FC236}">
                <a16:creationId xmlns:a16="http://schemas.microsoft.com/office/drawing/2014/main" id="{441EA736-2FC7-412C-BA8E-6B63230CDA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02"/>
          <a:stretch/>
        </p:blipFill>
        <p:spPr bwMode="auto">
          <a:xfrm>
            <a:off x="1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8DDCB2D-BC76-4CD1-9C03-A70821646CBD}"/>
              </a:ext>
            </a:extLst>
          </p:cNvPr>
          <p:cNvSpPr/>
          <p:nvPr/>
        </p:nvSpPr>
        <p:spPr>
          <a:xfrm>
            <a:off x="105508" y="96715"/>
            <a:ext cx="11966329" cy="6673361"/>
          </a:xfrm>
          <a:prstGeom prst="rect">
            <a:avLst/>
          </a:prstGeom>
          <a:noFill/>
          <a:ln w="12700">
            <a:solidFill>
              <a:srgbClr val="F4F4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4043EE-4C4C-47C6-92AA-B9786DFB6CD2}"/>
              </a:ext>
            </a:extLst>
          </p:cNvPr>
          <p:cNvSpPr>
            <a:spLocks noChangeAspect="1"/>
          </p:cNvSpPr>
          <p:nvPr/>
        </p:nvSpPr>
        <p:spPr>
          <a:xfrm>
            <a:off x="112629" y="63000"/>
            <a:ext cx="11968000" cy="67320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AAA434-8536-4D7C-857C-14AAFF31EE54}"/>
              </a:ext>
            </a:extLst>
          </p:cNvPr>
          <p:cNvSpPr/>
          <p:nvPr/>
        </p:nvSpPr>
        <p:spPr>
          <a:xfrm>
            <a:off x="368300" y="253953"/>
            <a:ext cx="11430000" cy="631194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33A7522-A0BB-45B4-8C46-45A723E3EABA}"/>
              </a:ext>
            </a:extLst>
          </p:cNvPr>
          <p:cNvSpPr/>
          <p:nvPr/>
        </p:nvSpPr>
        <p:spPr>
          <a:xfrm>
            <a:off x="501159" y="380064"/>
            <a:ext cx="1913505" cy="82448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모델 소개</a:t>
            </a:r>
            <a:endParaRPr lang="en-US" altLang="ko-KR" sz="2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488C75-2B2C-4835-9768-26586543BB52}"/>
              </a:ext>
            </a:extLst>
          </p:cNvPr>
          <p:cNvSpPr txBox="1"/>
          <p:nvPr/>
        </p:nvSpPr>
        <p:spPr>
          <a:xfrm>
            <a:off x="393700" y="1206042"/>
            <a:ext cx="5702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Model 1.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94565D-5280-4E1D-8AB2-8DA31034A69A}"/>
              </a:ext>
            </a:extLst>
          </p:cNvPr>
          <p:cNvSpPr txBox="1"/>
          <p:nvPr/>
        </p:nvSpPr>
        <p:spPr>
          <a:xfrm>
            <a:off x="6121401" y="1204545"/>
            <a:ext cx="5702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Model 2.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742CA0-79A6-4CB7-B43B-7BA3ECBF66CE}"/>
              </a:ext>
            </a:extLst>
          </p:cNvPr>
          <p:cNvSpPr txBox="1"/>
          <p:nvPr/>
        </p:nvSpPr>
        <p:spPr>
          <a:xfrm>
            <a:off x="385884" y="4134692"/>
            <a:ext cx="57022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'Grade’ column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에 대한 </a:t>
            </a:r>
            <a:r>
              <a:rPr lang="ko-KR" altLang="en-US" dirty="0" err="1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머신러닝을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바탕으로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just"/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사용자의 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＇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피지컬 </a:t>
            </a:r>
            <a:r>
              <a:rPr lang="ko-KR" altLang="en-US" dirty="0" err="1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티어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＇ 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를 정해 주는 모델 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just"/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ML 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모델 중 일반적으로 가장 높은 성능을 보이는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just"/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Stacking 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모델 활용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just"/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Stack 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구성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just"/>
            <a:r>
              <a:rPr lang="en-US" altLang="ko-KR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Sub : Logistic Regression, Decision Tree, KNN, </a:t>
            </a:r>
            <a:r>
              <a:rPr lang="en-US" altLang="ko-KR" sz="1200" dirty="0" err="1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XGBoost</a:t>
            </a:r>
            <a:r>
              <a:rPr lang="en-US" altLang="ko-KR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Light GBM</a:t>
            </a:r>
          </a:p>
          <a:p>
            <a:pPr algn="just"/>
            <a:r>
              <a:rPr lang="en-US" altLang="ko-KR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Final : Random Forest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0902DE9-EE2F-4CD6-96F9-7DA18295351F}"/>
              </a:ext>
            </a:extLst>
          </p:cNvPr>
          <p:cNvSpPr/>
          <p:nvPr/>
        </p:nvSpPr>
        <p:spPr>
          <a:xfrm>
            <a:off x="493560" y="1637144"/>
            <a:ext cx="5391206" cy="243454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844BD2AE-5532-4D6D-8DFC-255D9CDA79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31" y="1762069"/>
            <a:ext cx="5279835" cy="2276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AE106D77-883E-45A7-AB8A-0D360B5591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9" r="1112"/>
          <a:stretch/>
        </p:blipFill>
        <p:spPr bwMode="auto">
          <a:xfrm>
            <a:off x="6307233" y="1636877"/>
            <a:ext cx="5391206" cy="2434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E9B4FB9-1FCA-4E17-B220-B8C8964AE16A}"/>
              </a:ext>
            </a:extLst>
          </p:cNvPr>
          <p:cNvSpPr txBox="1"/>
          <p:nvPr/>
        </p:nvSpPr>
        <p:spPr>
          <a:xfrm>
            <a:off x="6256122" y="4134692"/>
            <a:ext cx="57022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전체 데이터의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'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피지컬 타입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’ 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을 </a:t>
            </a:r>
            <a:r>
              <a:rPr lang="ko-KR" altLang="en-US" dirty="0" err="1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범주화하는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모델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just"/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비지도학습 기반으로 성능 문제로부터 자유로움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just"/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클러스터 수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just"/>
            <a:r>
              <a:rPr lang="en-US" altLang="ko-KR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7</a:t>
            </a:r>
            <a:r>
              <a:rPr lang="ko-KR" altLang="en-US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개</a:t>
            </a:r>
            <a:endParaRPr lang="en-US" altLang="ko-KR" sz="12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just"/>
            <a:r>
              <a:rPr lang="en-US" altLang="ko-KR" sz="1200" dirty="0" err="1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Inerita</a:t>
            </a:r>
            <a:r>
              <a:rPr lang="en-US" altLang="ko-KR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: 9848</a:t>
            </a:r>
          </a:p>
          <a:p>
            <a:pPr algn="just"/>
            <a:r>
              <a:rPr lang="en-US" altLang="ko-KR" sz="12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Silhouette score : 0.5375</a:t>
            </a:r>
          </a:p>
        </p:txBody>
      </p:sp>
      <p:pic>
        <p:nvPicPr>
          <p:cNvPr id="6152" name="Picture 8">
            <a:extLst>
              <a:ext uri="{FF2B5EF4-FFF2-40B4-BE49-F238E27FC236}">
                <a16:creationId xmlns:a16="http://schemas.microsoft.com/office/drawing/2014/main" id="{222447B0-5AB1-4F85-AE8D-8CC9272EB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4068" y="5167652"/>
            <a:ext cx="2512166" cy="1242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7885ED7E-58D9-4DFD-97DD-C9CAF4AABD92}"/>
              </a:ext>
            </a:extLst>
          </p:cNvPr>
          <p:cNvCxnSpPr>
            <a:cxnSpLocks/>
          </p:cNvCxnSpPr>
          <p:nvPr/>
        </p:nvCxnSpPr>
        <p:spPr>
          <a:xfrm>
            <a:off x="8843866" y="5167652"/>
            <a:ext cx="0" cy="1164372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C09B7DAB-F718-4A9D-8F31-A2BD5743E272}"/>
              </a:ext>
            </a:extLst>
          </p:cNvPr>
          <p:cNvCxnSpPr>
            <a:cxnSpLocks/>
          </p:cNvCxnSpPr>
          <p:nvPr/>
        </p:nvCxnSpPr>
        <p:spPr>
          <a:xfrm>
            <a:off x="10077354" y="5167652"/>
            <a:ext cx="0" cy="1164372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85673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reative idea.Concept of idea and innovation">
            <a:extLst>
              <a:ext uri="{FF2B5EF4-FFF2-40B4-BE49-F238E27FC236}">
                <a16:creationId xmlns:a16="http://schemas.microsoft.com/office/drawing/2014/main" id="{441EA736-2FC7-412C-BA8E-6B63230CDA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02"/>
          <a:stretch/>
        </p:blipFill>
        <p:spPr bwMode="auto">
          <a:xfrm>
            <a:off x="1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8DDCB2D-BC76-4CD1-9C03-A70821646CBD}"/>
              </a:ext>
            </a:extLst>
          </p:cNvPr>
          <p:cNvSpPr/>
          <p:nvPr/>
        </p:nvSpPr>
        <p:spPr>
          <a:xfrm>
            <a:off x="105508" y="96715"/>
            <a:ext cx="11966329" cy="6673361"/>
          </a:xfrm>
          <a:prstGeom prst="rect">
            <a:avLst/>
          </a:prstGeom>
          <a:noFill/>
          <a:ln w="12700">
            <a:solidFill>
              <a:srgbClr val="F4F4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4043EE-4C4C-47C6-92AA-B9786DFB6CD2}"/>
              </a:ext>
            </a:extLst>
          </p:cNvPr>
          <p:cNvSpPr>
            <a:spLocks noChangeAspect="1"/>
          </p:cNvSpPr>
          <p:nvPr/>
        </p:nvSpPr>
        <p:spPr>
          <a:xfrm>
            <a:off x="112629" y="63000"/>
            <a:ext cx="11968000" cy="67320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AAA434-8536-4D7C-857C-14AAFF31EE54}"/>
              </a:ext>
            </a:extLst>
          </p:cNvPr>
          <p:cNvSpPr/>
          <p:nvPr/>
        </p:nvSpPr>
        <p:spPr>
          <a:xfrm>
            <a:off x="368300" y="253953"/>
            <a:ext cx="11430000" cy="631194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33A7522-A0BB-45B4-8C46-45A723E3EABA}"/>
              </a:ext>
            </a:extLst>
          </p:cNvPr>
          <p:cNvSpPr/>
          <p:nvPr/>
        </p:nvSpPr>
        <p:spPr>
          <a:xfrm>
            <a:off x="501159" y="380064"/>
            <a:ext cx="5460121" cy="82448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Solution1. </a:t>
            </a:r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피지컬 </a:t>
            </a:r>
            <a:r>
              <a:rPr lang="ko-KR" altLang="en-US" sz="2000" dirty="0" err="1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티어</a:t>
            </a:r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시스템 </a:t>
            </a:r>
            <a:r>
              <a:rPr lang="en-US" altLang="ko-KR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‘Physical.GG’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742CA0-79A6-4CB7-B43B-7BA3ECBF66CE}"/>
              </a:ext>
            </a:extLst>
          </p:cNvPr>
          <p:cNvSpPr txBox="1"/>
          <p:nvPr/>
        </p:nvSpPr>
        <p:spPr>
          <a:xfrm>
            <a:off x="711199" y="4873247"/>
            <a:ext cx="113606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ko-KR" altLang="en-US" b="1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경쟁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과 </a:t>
            </a:r>
            <a:r>
              <a:rPr lang="ko-KR" altLang="en-US" b="1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등급화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가 익숙한 청년 세대에게 효과적인 모델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OP.GG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는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본래 게임 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‘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리그 오브 레전드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' 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전용 검색 엔진이었으나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algn="just"/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   이용률이 높아지면서 대부분의 게임을 서비스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 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이때부터 </a:t>
            </a:r>
            <a:r>
              <a:rPr lang="en-US" altLang="ko-KR" b="1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'xx.GG'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는 </a:t>
            </a:r>
            <a:r>
              <a:rPr lang="ko-KR" altLang="en-US" b="1" u="sng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등급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과 </a:t>
            </a:r>
            <a:r>
              <a:rPr lang="ko-KR" altLang="en-US" b="1" u="sng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통계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를 상징하는 시스템으로 </a:t>
            </a:r>
            <a:r>
              <a:rPr lang="ko-KR" altLang="en-US" dirty="0" err="1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여겨짐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11266" name="Picture 2" descr="OP.GG App – 리뉴얼 – OP.GG">
            <a:extLst>
              <a:ext uri="{FF2B5EF4-FFF2-40B4-BE49-F238E27FC236}">
                <a16:creationId xmlns:a16="http://schemas.microsoft.com/office/drawing/2014/main" id="{C1F6C235-A6CD-46C6-9213-E504E1876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407" y="1389184"/>
            <a:ext cx="5745284" cy="3337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9442035F-C0F6-47E3-BE99-079354264A4A}"/>
              </a:ext>
            </a:extLst>
          </p:cNvPr>
          <p:cNvGrpSpPr/>
          <p:nvPr/>
        </p:nvGrpSpPr>
        <p:grpSpPr>
          <a:xfrm>
            <a:off x="6780126" y="2781064"/>
            <a:ext cx="852832" cy="526004"/>
            <a:chOff x="5986941" y="3167929"/>
            <a:chExt cx="852832" cy="526004"/>
          </a:xfrm>
        </p:grpSpPr>
        <p:sp>
          <p:nvSpPr>
            <p:cNvPr id="19" name="L 도형 18">
              <a:extLst>
                <a:ext uri="{FF2B5EF4-FFF2-40B4-BE49-F238E27FC236}">
                  <a16:creationId xmlns:a16="http://schemas.microsoft.com/office/drawing/2014/main" id="{FD7B7140-B499-4498-8DA9-1A8B1113929F}"/>
                </a:ext>
              </a:extLst>
            </p:cNvPr>
            <p:cNvSpPr/>
            <p:nvPr/>
          </p:nvSpPr>
          <p:spPr>
            <a:xfrm rot="13464526">
              <a:off x="6313769" y="3167929"/>
              <a:ext cx="526004" cy="526004"/>
            </a:xfrm>
            <a:prstGeom prst="corner">
              <a:avLst>
                <a:gd name="adj1" fmla="val 21769"/>
                <a:gd name="adj2" fmla="val 2357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" name="L 도형 19">
              <a:extLst>
                <a:ext uri="{FF2B5EF4-FFF2-40B4-BE49-F238E27FC236}">
                  <a16:creationId xmlns:a16="http://schemas.microsoft.com/office/drawing/2014/main" id="{D6ED1292-F05C-4752-8396-7E03343D9D0F}"/>
                </a:ext>
              </a:extLst>
            </p:cNvPr>
            <p:cNvSpPr/>
            <p:nvPr/>
          </p:nvSpPr>
          <p:spPr>
            <a:xfrm rot="13464526">
              <a:off x="5986941" y="3167929"/>
              <a:ext cx="526004" cy="526004"/>
            </a:xfrm>
            <a:prstGeom prst="corner">
              <a:avLst>
                <a:gd name="adj1" fmla="val 21769"/>
                <a:gd name="adj2" fmla="val 23579"/>
              </a:avLst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23" name="그림 22">
            <a:extLst>
              <a:ext uri="{FF2B5EF4-FFF2-40B4-BE49-F238E27FC236}">
                <a16:creationId xmlns:a16="http://schemas.microsoft.com/office/drawing/2014/main" id="{71544C67-1BDD-453B-8767-D65297A433A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1" b="1577"/>
          <a:stretch/>
        </p:blipFill>
        <p:spPr>
          <a:xfrm>
            <a:off x="8416079" y="661418"/>
            <a:ext cx="2263071" cy="48043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9756800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reative idea.Concept of idea and innovation">
            <a:extLst>
              <a:ext uri="{FF2B5EF4-FFF2-40B4-BE49-F238E27FC236}">
                <a16:creationId xmlns:a16="http://schemas.microsoft.com/office/drawing/2014/main" id="{441EA736-2FC7-412C-BA8E-6B63230CDA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02"/>
          <a:stretch/>
        </p:blipFill>
        <p:spPr bwMode="auto">
          <a:xfrm>
            <a:off x="1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8DDCB2D-BC76-4CD1-9C03-A70821646CBD}"/>
              </a:ext>
            </a:extLst>
          </p:cNvPr>
          <p:cNvSpPr/>
          <p:nvPr/>
        </p:nvSpPr>
        <p:spPr>
          <a:xfrm>
            <a:off x="105508" y="96715"/>
            <a:ext cx="11966329" cy="6673361"/>
          </a:xfrm>
          <a:prstGeom prst="rect">
            <a:avLst/>
          </a:prstGeom>
          <a:noFill/>
          <a:ln w="12700">
            <a:solidFill>
              <a:srgbClr val="F4F4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4043EE-4C4C-47C6-92AA-B9786DFB6CD2}"/>
              </a:ext>
            </a:extLst>
          </p:cNvPr>
          <p:cNvSpPr>
            <a:spLocks noChangeAspect="1"/>
          </p:cNvSpPr>
          <p:nvPr/>
        </p:nvSpPr>
        <p:spPr>
          <a:xfrm>
            <a:off x="112629" y="63000"/>
            <a:ext cx="11968000" cy="67320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AAA434-8536-4D7C-857C-14AAFF31EE54}"/>
              </a:ext>
            </a:extLst>
          </p:cNvPr>
          <p:cNvSpPr/>
          <p:nvPr/>
        </p:nvSpPr>
        <p:spPr>
          <a:xfrm>
            <a:off x="368300" y="253953"/>
            <a:ext cx="11430000" cy="631194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33A7522-A0BB-45B4-8C46-45A723E3EABA}"/>
              </a:ext>
            </a:extLst>
          </p:cNvPr>
          <p:cNvSpPr/>
          <p:nvPr/>
        </p:nvSpPr>
        <p:spPr>
          <a:xfrm>
            <a:off x="501159" y="380064"/>
            <a:ext cx="5460121" cy="82448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Solution1. </a:t>
            </a:r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피지컬 </a:t>
            </a:r>
            <a:r>
              <a:rPr lang="ko-KR" altLang="en-US" sz="2000" dirty="0" err="1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티어</a:t>
            </a:r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시스템 </a:t>
            </a:r>
            <a:r>
              <a:rPr lang="en-US" altLang="ko-KR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‘Physical.GG’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742CA0-79A6-4CB7-B43B-7BA3ECBF66CE}"/>
              </a:ext>
            </a:extLst>
          </p:cNvPr>
          <p:cNvSpPr txBox="1"/>
          <p:nvPr/>
        </p:nvSpPr>
        <p:spPr>
          <a:xfrm>
            <a:off x="6083300" y="2192300"/>
            <a:ext cx="597067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altLang="ko-KR" b="1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2009</a:t>
            </a:r>
            <a:r>
              <a:rPr lang="ko-KR" altLang="en-US" b="1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년부터 전국 시행된 학생 건강평가제도 </a:t>
            </a:r>
            <a:r>
              <a:rPr lang="en-US" altLang="ko-KR" b="1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PAPS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PAPS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지표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</a:t>
            </a:r>
            <a:r>
              <a:rPr lang="ko-KR" altLang="en-US" dirty="0" err="1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좌전굴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악력 등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와 본 모델의 사용 지표 일치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현재 청년층은 대체로 </a:t>
            </a:r>
            <a:r>
              <a:rPr lang="en-US" altLang="ko-KR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PAPS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경험이 있음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따라서 사용자가 일반적으로 자신의 지표를 인지 중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사용자가 </a:t>
            </a:r>
            <a:r>
              <a:rPr lang="ko-KR" altLang="en-US" b="1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측정하는 번거로움</a:t>
            </a:r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↓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12290" name="Picture 2" descr=" Happy young group student running in the campus">
            <a:extLst>
              <a:ext uri="{FF2B5EF4-FFF2-40B4-BE49-F238E27FC236}">
                <a16:creationId xmlns:a16="http://schemas.microsoft.com/office/drawing/2014/main" id="{67BB22BF-8AE0-47CB-9A2E-654B6E7995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158" y="1330655"/>
            <a:ext cx="5514019" cy="459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44959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reative idea.Concept of idea and innovation">
            <a:extLst>
              <a:ext uri="{FF2B5EF4-FFF2-40B4-BE49-F238E27FC236}">
                <a16:creationId xmlns:a16="http://schemas.microsoft.com/office/drawing/2014/main" id="{441EA736-2FC7-412C-BA8E-6B63230CDA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02"/>
          <a:stretch/>
        </p:blipFill>
        <p:spPr bwMode="auto">
          <a:xfrm>
            <a:off x="1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8DDCB2D-BC76-4CD1-9C03-A70821646CBD}"/>
              </a:ext>
            </a:extLst>
          </p:cNvPr>
          <p:cNvSpPr/>
          <p:nvPr/>
        </p:nvSpPr>
        <p:spPr>
          <a:xfrm>
            <a:off x="105508" y="96715"/>
            <a:ext cx="11966329" cy="6673361"/>
          </a:xfrm>
          <a:prstGeom prst="rect">
            <a:avLst/>
          </a:prstGeom>
          <a:noFill/>
          <a:ln w="12700">
            <a:solidFill>
              <a:srgbClr val="F4F4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4043EE-4C4C-47C6-92AA-B9786DFB6CD2}"/>
              </a:ext>
            </a:extLst>
          </p:cNvPr>
          <p:cNvSpPr>
            <a:spLocks noChangeAspect="1"/>
          </p:cNvSpPr>
          <p:nvPr/>
        </p:nvSpPr>
        <p:spPr>
          <a:xfrm>
            <a:off x="112629" y="63000"/>
            <a:ext cx="11968000" cy="67320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AAA434-8536-4D7C-857C-14AAFF31EE54}"/>
              </a:ext>
            </a:extLst>
          </p:cNvPr>
          <p:cNvSpPr/>
          <p:nvPr/>
        </p:nvSpPr>
        <p:spPr>
          <a:xfrm>
            <a:off x="368300" y="253953"/>
            <a:ext cx="11430000" cy="631194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33A7522-A0BB-45B4-8C46-45A723E3EABA}"/>
              </a:ext>
            </a:extLst>
          </p:cNvPr>
          <p:cNvSpPr/>
          <p:nvPr/>
        </p:nvSpPr>
        <p:spPr>
          <a:xfrm>
            <a:off x="501159" y="380064"/>
            <a:ext cx="5460121" cy="82448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Solution2. </a:t>
            </a:r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피지컬 타입 제공</a:t>
            </a:r>
            <a:r>
              <a:rPr lang="en-US" altLang="ko-KR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(Physical.GG addon)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3DBE5C-23A1-48D2-AD85-BC3E519E9FB1}"/>
              </a:ext>
            </a:extLst>
          </p:cNvPr>
          <p:cNvSpPr txBox="1"/>
          <p:nvPr/>
        </p:nvSpPr>
        <p:spPr>
          <a:xfrm>
            <a:off x="4834648" y="1361783"/>
            <a:ext cx="2522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클러스터링 결과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DFAF3CE-D1DF-45B8-BD3C-8976AFC5493F}"/>
              </a:ext>
            </a:extLst>
          </p:cNvPr>
          <p:cNvSpPr/>
          <p:nvPr/>
        </p:nvSpPr>
        <p:spPr>
          <a:xfrm>
            <a:off x="5275385" y="1318874"/>
            <a:ext cx="1652954" cy="41224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DA1AF82-80E6-40DA-B3D7-C1F05B913ABE}"/>
              </a:ext>
            </a:extLst>
          </p:cNvPr>
          <p:cNvSpPr/>
          <p:nvPr/>
        </p:nvSpPr>
        <p:spPr>
          <a:xfrm>
            <a:off x="571499" y="2083778"/>
            <a:ext cx="2409094" cy="208377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1. </a:t>
            </a:r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평균 여성형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여성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10~20</a:t>
            </a:r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대 또는 </a:t>
            </a:r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60~80</a:t>
            </a:r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대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평균적 신장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비만 </a:t>
            </a:r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X</a:t>
            </a: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초과 체지방율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악력 최하위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유연성 </a:t>
            </a:r>
            <a:r>
              <a:rPr lang="ko-KR" altLang="en-US" sz="1500" dirty="0" err="1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중상위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E0C64ED-9B80-4E64-AAB1-DA2CA4831C87}"/>
              </a:ext>
            </a:extLst>
          </p:cNvPr>
          <p:cNvSpPr/>
          <p:nvPr/>
        </p:nvSpPr>
        <p:spPr>
          <a:xfrm>
            <a:off x="3267623" y="2083778"/>
            <a:ext cx="2409094" cy="208377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2. </a:t>
            </a:r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건강 남성형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남성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</a:t>
            </a:r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대</a:t>
            </a:r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~40</a:t>
            </a:r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대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큰 신장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비만 △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적정 체지방율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악력 최상위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유연성 중위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5425031-2320-4C99-A0AE-6B76802F0ADE}"/>
              </a:ext>
            </a:extLst>
          </p:cNvPr>
          <p:cNvSpPr/>
          <p:nvPr/>
        </p:nvSpPr>
        <p:spPr>
          <a:xfrm>
            <a:off x="5963747" y="2083778"/>
            <a:ext cx="2409094" cy="208377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3. </a:t>
            </a:r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비만 여성형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여성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 연령에 분포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작은 신장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비만 </a:t>
            </a:r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O</a:t>
            </a: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초과 체지방율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악력 중위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유연성 중위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55FE6D1-8F85-44D4-89AA-5417334E3BD6}"/>
              </a:ext>
            </a:extLst>
          </p:cNvPr>
          <p:cNvSpPr/>
          <p:nvPr/>
        </p:nvSpPr>
        <p:spPr>
          <a:xfrm>
            <a:off x="5963747" y="4341687"/>
            <a:ext cx="2409094" cy="208377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6. </a:t>
            </a:r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건강 여성형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여성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</a:t>
            </a:r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대</a:t>
            </a:r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~40</a:t>
            </a:r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대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평균적 신장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비만 </a:t>
            </a:r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X(</a:t>
            </a:r>
            <a:r>
              <a:rPr lang="ko-KR" altLang="en-US" sz="1500" dirty="0" err="1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저체중</a:t>
            </a:r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적정 체지방율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악력 최상위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유연성 최상위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4B74FCF-39AE-4E00-8D0C-0ECAE98A4439}"/>
              </a:ext>
            </a:extLst>
          </p:cNvPr>
          <p:cNvSpPr/>
          <p:nvPr/>
        </p:nvSpPr>
        <p:spPr>
          <a:xfrm>
            <a:off x="3267623" y="4341687"/>
            <a:ext cx="2409094" cy="208377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5. </a:t>
            </a:r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평균 남성형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남성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10~20</a:t>
            </a:r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대 또는 </a:t>
            </a:r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60~80</a:t>
            </a:r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대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작은 신장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비만 </a:t>
            </a:r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X</a:t>
            </a: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초과 체지방율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악력 분포 넓음</a:t>
            </a:r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기준점 </a:t>
            </a:r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x)</a:t>
            </a: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유연성 최하위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E64ECD0-0725-4DA5-BA9B-279D16A4EB06}"/>
              </a:ext>
            </a:extLst>
          </p:cNvPr>
          <p:cNvSpPr/>
          <p:nvPr/>
        </p:nvSpPr>
        <p:spPr>
          <a:xfrm>
            <a:off x="571499" y="4341687"/>
            <a:ext cx="2409094" cy="208377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4. </a:t>
            </a:r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비만 남성형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남성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 연령에 분포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평균적 신장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비만 </a:t>
            </a:r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O</a:t>
            </a: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초과 체지방율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악력 최상위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유연성 중하위</a:t>
            </a:r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높은 혈압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F3C3AE5-0A9F-45F5-A21B-07F77D7B911B}"/>
              </a:ext>
            </a:extLst>
          </p:cNvPr>
          <p:cNvSpPr/>
          <p:nvPr/>
        </p:nvSpPr>
        <p:spPr>
          <a:xfrm>
            <a:off x="8635756" y="4341687"/>
            <a:ext cx="2409094" cy="208377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7. </a:t>
            </a:r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부실 남성형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남성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</a:t>
            </a:r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대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큰 신장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비만 </a:t>
            </a:r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X</a:t>
            </a: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낮은 체지방율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악력 하위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유연성 최상위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87C51DD-05AA-4C55-9263-101D371B3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6729" y="2083778"/>
            <a:ext cx="2859404" cy="208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0514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reative idea.Concept of idea and innovation">
            <a:extLst>
              <a:ext uri="{FF2B5EF4-FFF2-40B4-BE49-F238E27FC236}">
                <a16:creationId xmlns:a16="http://schemas.microsoft.com/office/drawing/2014/main" id="{441EA736-2FC7-412C-BA8E-6B63230CDA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02"/>
          <a:stretch/>
        </p:blipFill>
        <p:spPr bwMode="auto">
          <a:xfrm>
            <a:off x="1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8DDCB2D-BC76-4CD1-9C03-A70821646CBD}"/>
              </a:ext>
            </a:extLst>
          </p:cNvPr>
          <p:cNvSpPr/>
          <p:nvPr/>
        </p:nvSpPr>
        <p:spPr>
          <a:xfrm>
            <a:off x="105508" y="96715"/>
            <a:ext cx="11966329" cy="6673361"/>
          </a:xfrm>
          <a:prstGeom prst="rect">
            <a:avLst/>
          </a:prstGeom>
          <a:noFill/>
          <a:ln w="12700">
            <a:solidFill>
              <a:srgbClr val="F4F4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4043EE-4C4C-47C6-92AA-B9786DFB6CD2}"/>
              </a:ext>
            </a:extLst>
          </p:cNvPr>
          <p:cNvSpPr>
            <a:spLocks noChangeAspect="1"/>
          </p:cNvSpPr>
          <p:nvPr/>
        </p:nvSpPr>
        <p:spPr>
          <a:xfrm>
            <a:off x="112629" y="63000"/>
            <a:ext cx="11968000" cy="67320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EAAA434-8536-4D7C-857C-14AAFF31EE54}"/>
              </a:ext>
            </a:extLst>
          </p:cNvPr>
          <p:cNvSpPr/>
          <p:nvPr/>
        </p:nvSpPr>
        <p:spPr>
          <a:xfrm>
            <a:off x="368300" y="253953"/>
            <a:ext cx="11430000" cy="631194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33A7522-A0BB-45B4-8C46-45A723E3EABA}"/>
              </a:ext>
            </a:extLst>
          </p:cNvPr>
          <p:cNvSpPr/>
          <p:nvPr/>
        </p:nvSpPr>
        <p:spPr>
          <a:xfrm>
            <a:off x="501159" y="380064"/>
            <a:ext cx="5460121" cy="82448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Solution2. </a:t>
            </a:r>
            <a:r>
              <a:rPr lang="ko-KR" altLang="en-US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피지컬 타입 제공</a:t>
            </a:r>
            <a:r>
              <a:rPr lang="en-US" altLang="ko-KR" sz="20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(Physical.GG addon)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3DBE5C-23A1-48D2-AD85-BC3E519E9FB1}"/>
              </a:ext>
            </a:extLst>
          </p:cNvPr>
          <p:cNvSpPr txBox="1"/>
          <p:nvPr/>
        </p:nvSpPr>
        <p:spPr>
          <a:xfrm>
            <a:off x="4834648" y="1361783"/>
            <a:ext cx="2522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클러스터링 결과</a:t>
            </a:r>
            <a:endParaRPr lang="en-US" altLang="ko-KR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DFAF3CE-D1DF-45B8-BD3C-8976AFC5493F}"/>
              </a:ext>
            </a:extLst>
          </p:cNvPr>
          <p:cNvSpPr/>
          <p:nvPr/>
        </p:nvSpPr>
        <p:spPr>
          <a:xfrm>
            <a:off x="5275385" y="1318874"/>
            <a:ext cx="1652954" cy="41224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DA1AF82-80E6-40DA-B3D7-C1F05B913ABE}"/>
              </a:ext>
            </a:extLst>
          </p:cNvPr>
          <p:cNvSpPr/>
          <p:nvPr/>
        </p:nvSpPr>
        <p:spPr>
          <a:xfrm>
            <a:off x="571499" y="2083778"/>
            <a:ext cx="2409094" cy="208377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1. </a:t>
            </a:r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평균 여성형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여성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10~20</a:t>
            </a:r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대 또는 </a:t>
            </a:r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60~80</a:t>
            </a:r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대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평균적 신장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비만 </a:t>
            </a:r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X</a:t>
            </a: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초과 체지방율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악력 최하위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유연성 </a:t>
            </a:r>
            <a:r>
              <a:rPr lang="ko-KR" altLang="en-US" sz="1500" dirty="0" err="1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중상위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E0C64ED-9B80-4E64-AAB1-DA2CA4831C87}"/>
              </a:ext>
            </a:extLst>
          </p:cNvPr>
          <p:cNvSpPr/>
          <p:nvPr/>
        </p:nvSpPr>
        <p:spPr>
          <a:xfrm>
            <a:off x="3267623" y="2083778"/>
            <a:ext cx="2409094" cy="208377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2. </a:t>
            </a:r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건강 남성형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남성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</a:t>
            </a:r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대</a:t>
            </a:r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~40</a:t>
            </a:r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대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큰 신장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비만 △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적정 체지방율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악력 최상위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유연성 중위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5425031-2320-4C99-A0AE-6B76802F0ADE}"/>
              </a:ext>
            </a:extLst>
          </p:cNvPr>
          <p:cNvSpPr/>
          <p:nvPr/>
        </p:nvSpPr>
        <p:spPr>
          <a:xfrm>
            <a:off x="5963747" y="2083778"/>
            <a:ext cx="2409094" cy="208377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3. </a:t>
            </a:r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비만 여성형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여성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 연령에 분포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작은 신장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비만 </a:t>
            </a:r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O</a:t>
            </a: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초과 체지방율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악력 중위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유연성 중위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55FE6D1-8F85-44D4-89AA-5417334E3BD6}"/>
              </a:ext>
            </a:extLst>
          </p:cNvPr>
          <p:cNvSpPr/>
          <p:nvPr/>
        </p:nvSpPr>
        <p:spPr>
          <a:xfrm>
            <a:off x="5963747" y="4341687"/>
            <a:ext cx="2409094" cy="208377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6. </a:t>
            </a:r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건강 여성형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여성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</a:t>
            </a:r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대</a:t>
            </a:r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~40</a:t>
            </a:r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대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평균적 신장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비만 </a:t>
            </a:r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X(</a:t>
            </a:r>
            <a:r>
              <a:rPr lang="ko-KR" altLang="en-US" sz="1500" dirty="0" err="1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저체중</a:t>
            </a:r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적정 체지방율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악력 최상위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유연성 최상위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4B74FCF-39AE-4E00-8D0C-0ECAE98A4439}"/>
              </a:ext>
            </a:extLst>
          </p:cNvPr>
          <p:cNvSpPr/>
          <p:nvPr/>
        </p:nvSpPr>
        <p:spPr>
          <a:xfrm>
            <a:off x="3267623" y="4341687"/>
            <a:ext cx="2409094" cy="208377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5. </a:t>
            </a:r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평균 남성형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남성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10~20</a:t>
            </a:r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대 또는 </a:t>
            </a:r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60~80</a:t>
            </a:r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대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작은 신장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비만 </a:t>
            </a:r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X</a:t>
            </a: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초과 체지방율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악력 분포 넓음</a:t>
            </a:r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기준점 </a:t>
            </a:r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x)</a:t>
            </a: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유연성 최하위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E64ECD0-0725-4DA5-BA9B-279D16A4EB06}"/>
              </a:ext>
            </a:extLst>
          </p:cNvPr>
          <p:cNvSpPr/>
          <p:nvPr/>
        </p:nvSpPr>
        <p:spPr>
          <a:xfrm>
            <a:off x="571499" y="4341687"/>
            <a:ext cx="2409094" cy="208377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4. </a:t>
            </a:r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비만 남성형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남성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 연령에 분포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평균적 신장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비만 </a:t>
            </a:r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O</a:t>
            </a: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초과 체지방율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악력 최상위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유연성 중하위</a:t>
            </a:r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높은 혈압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F3C3AE5-0A9F-45F5-A21B-07F77D7B911B}"/>
              </a:ext>
            </a:extLst>
          </p:cNvPr>
          <p:cNvSpPr/>
          <p:nvPr/>
        </p:nvSpPr>
        <p:spPr>
          <a:xfrm>
            <a:off x="8635756" y="4341687"/>
            <a:ext cx="2409094" cy="208377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7. </a:t>
            </a:r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부실 남성형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남성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</a:t>
            </a:r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대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큰 신장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비만 </a:t>
            </a:r>
            <a:r>
              <a:rPr lang="en-US" altLang="ko-KR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X</a:t>
            </a: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낮은 체지방율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악력 하위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r>
              <a:rPr lang="ko-KR" altLang="en-US" sz="1500" dirty="0">
                <a:ln>
                  <a:solidFill>
                    <a:srgbClr val="F4F4F4"/>
                  </a:solidFill>
                </a:ln>
                <a:solidFill>
                  <a:srgbClr val="F4F4F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유연성 최상위</a:t>
            </a:r>
            <a:endParaRPr lang="en-US" altLang="ko-KR" sz="1500" dirty="0">
              <a:ln>
                <a:solidFill>
                  <a:srgbClr val="F4F4F4"/>
                </a:solidFill>
              </a:ln>
              <a:solidFill>
                <a:srgbClr val="F4F4F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87C51DD-05AA-4C55-9263-101D371B3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6729" y="2083778"/>
            <a:ext cx="2859404" cy="208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588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1139</TotalTime>
  <Words>2696</Words>
  <Application>Microsoft Office PowerPoint</Application>
  <PresentationFormat>와이드스크린</PresentationFormat>
  <Paragraphs>401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2" baseType="lpstr">
      <vt:lpstr>KoPubWorld돋움체 Bold</vt:lpstr>
      <vt:lpstr>KoPubWorld돋움체 Light</vt:lpstr>
      <vt:lpstr>KoPubWorld돋움체 Medium</vt:lpstr>
      <vt:lpstr>맑은 고딕</vt:lpstr>
      <vt:lpstr>Arial</vt:lpstr>
      <vt:lpstr>Courier New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황현석</dc:creator>
  <cp:lastModifiedBy>황현석</cp:lastModifiedBy>
  <cp:revision>58</cp:revision>
  <dcterms:created xsi:type="dcterms:W3CDTF">2024-12-06T02:35:35Z</dcterms:created>
  <dcterms:modified xsi:type="dcterms:W3CDTF">2024-12-08T14:44:19Z</dcterms:modified>
</cp:coreProperties>
</file>